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</p:sldMasterIdLst>
  <p:notesMasterIdLst>
    <p:notesMasterId r:id="rId12"/>
  </p:notesMasterIdLst>
  <p:sldIdLst>
    <p:sldId id="2147483644" r:id="rId3"/>
    <p:sldId id="2147483646" r:id="rId4"/>
    <p:sldId id="263" r:id="rId5"/>
    <p:sldId id="264" r:id="rId6"/>
    <p:sldId id="265" r:id="rId7"/>
    <p:sldId id="266" r:id="rId8"/>
    <p:sldId id="267" r:id="rId9"/>
    <p:sldId id="277" r:id="rId10"/>
    <p:sldId id="276" r:id="rId11"/>
    <p:sldId id="2147483647" r:id="rId18"/>
    <p:sldId id="25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openxmlformats.org/officeDocument/2006/relationships/slide" Target="slides/slide10.xml"/><Relationship Id="rId19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, Charles P" userId="bbcde314-bab1-440a-979a-652249f9c9b2" providerId="ADAL" clId="{F60471B9-2EB5-437E-ADCB-600E09168079}"/>
    <pc:docChg chg="delSld modSld sldOrd">
      <pc:chgData name="Chu, Charles P" userId="bbcde314-bab1-440a-979a-652249f9c9b2" providerId="ADAL" clId="{F60471B9-2EB5-437E-ADCB-600E09168079}" dt="2026-06-22T02:29:45.222" v="3" actId="1076"/>
      <pc:docMkLst>
        <pc:docMk/>
      </pc:docMkLst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347788510" sldId="256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1886289304" sldId="257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607756762" sldId="258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971833112" sldId="259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770603714" sldId="260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2374088214" sldId="261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476481153" sldId="262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1716035389" sldId="268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2673278243" sldId="269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1136715484" sldId="270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3323123840" sldId="271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3982319717" sldId="272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301319851" sldId="273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429293193" sldId="274"/>
        </pc:sldMkLst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1114524899" sldId="275"/>
        </pc:sldMkLst>
      </pc:sldChg>
      <pc:sldChg chg="modSp mod ord">
        <pc:chgData name="Chu, Charles P" userId="bbcde314-bab1-440a-979a-652249f9c9b2" providerId="ADAL" clId="{F60471B9-2EB5-437E-ADCB-600E09168079}" dt="2026-06-22T02:29:45.222" v="3" actId="1076"/>
        <pc:sldMkLst>
          <pc:docMk/>
          <pc:sldMk cId="3246980940" sldId="277"/>
        </pc:sldMkLst>
        <pc:picChg chg="mod">
          <ac:chgData name="Chu, Charles P" userId="bbcde314-bab1-440a-979a-652249f9c9b2" providerId="ADAL" clId="{F60471B9-2EB5-437E-ADCB-600E09168079}" dt="2026-06-22T02:29:45.222" v="3" actId="1076"/>
          <ac:picMkLst>
            <pc:docMk/>
            <pc:sldMk cId="3246980940" sldId="277"/>
            <ac:picMk id="5" creationId="{ED060FA3-0FFF-08A6-F65D-770B220445EF}"/>
          </ac:picMkLst>
        </pc:picChg>
      </pc:sldChg>
      <pc:sldChg chg="del">
        <pc:chgData name="Chu, Charles P" userId="bbcde314-bab1-440a-979a-652249f9c9b2" providerId="ADAL" clId="{F60471B9-2EB5-437E-ADCB-600E09168079}" dt="2026-06-22T02:29:15.947" v="0" actId="47"/>
        <pc:sldMkLst>
          <pc:docMk/>
          <pc:sldMk cId="2200188062" sldId="2147483647"/>
        </pc:sldMkLst>
      </pc:sldChg>
      <pc:sldMasterChg chg="delSldLayout">
        <pc:chgData name="Chu, Charles P" userId="bbcde314-bab1-440a-979a-652249f9c9b2" providerId="ADAL" clId="{F60471B9-2EB5-437E-ADCB-600E09168079}" dt="2026-06-22T02:29:15.947" v="0" actId="47"/>
        <pc:sldMasterMkLst>
          <pc:docMk/>
          <pc:sldMasterMk cId="2193142894" sldId="2147483660"/>
        </pc:sldMasterMkLst>
        <pc:sldLayoutChg chg="del">
          <pc:chgData name="Chu, Charles P" userId="bbcde314-bab1-440a-979a-652249f9c9b2" providerId="ADAL" clId="{F60471B9-2EB5-437E-ADCB-600E09168079}" dt="2026-06-22T02:29:15.947" v="0" actId="47"/>
          <pc:sldLayoutMkLst>
            <pc:docMk/>
            <pc:sldMasterMk cId="2193142894" sldId="2147483660"/>
            <pc:sldLayoutMk cId="870239053" sldId="2147483669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E17D6-D9E0-4E97-BDF5-165B79C921F8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847BF3-7813-4A34-8CF3-7A0B53EE0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8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03F8D-1C13-4DB1-21F6-AC821B5E2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EA398-13AB-373A-2406-6909AB400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DB36C-4881-78F9-078D-8D011B770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3924E-F717-F17B-C780-CFD4B2C906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5574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CA24F-BC8A-4880-A155-136BC1F3B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856513-51FF-5719-8BA2-CEDA40F71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D24839-4677-1236-94BC-CA932746F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example , if we use prompt of </a:t>
            </a:r>
            <a:r>
              <a:rPr lang="en-US" err="1"/>
              <a:t>wifi</a:t>
            </a:r>
            <a:r>
              <a:rPr lang="en-US"/>
              <a:t> to ask certain log , it highly depends on the prompt that provide detail and exact wording </a:t>
            </a:r>
            <a:r>
              <a:rPr lang="en-US" err="1"/>
              <a:t>everytime</a:t>
            </a:r>
            <a:r>
              <a:rPr lang="en-US"/>
              <a:t>, also easily result- in different result. </a:t>
            </a:r>
          </a:p>
          <a:p>
            <a:r>
              <a:rPr lang="en-US"/>
              <a:t>Skill is structured solve smaller but dedicated task , steps are more concrete and predictable . 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B013C-68ED-B732-8DEC-E6707CF700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0585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3D07A-F996-1881-FCFC-B162B07D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F640D-36CD-60E1-6E0F-29DD47244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011850-76AC-C100-460F-D29AD5AF9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A3A39-CC5C-AD34-BB13-2E6216BD2B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113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34613-F09D-5BE9-CEAB-965A04840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83F5C-743A-03AF-EB7A-DCC0D6103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5C5AC-844F-8220-88EF-DA7FA0C86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example of cooking from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92BB2-9072-EDE1-5A6C-3129096FFF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35147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BE824-55D0-F121-8E51-CDC303555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79562"/>
            <a:ext cx="10668000" cy="4694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A031F-4CF3-9FA6-7A98-8072F4D00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21985"/>
            <a:ext cx="10668000" cy="38767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88937BB-78B5-85A1-6948-063637AA88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1" y="1158876"/>
            <a:ext cx="10668000" cy="223837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 marL="177800" indent="0">
              <a:buNone/>
              <a:defRPr/>
            </a:lvl2pPr>
          </a:lstStyle>
          <a:p>
            <a:pPr lvl="0"/>
            <a:r>
              <a:rPr lang="en-GB"/>
              <a:t>Subtitle can be place here</a:t>
            </a:r>
          </a:p>
        </p:txBody>
      </p:sp>
    </p:spTree>
    <p:extLst>
      <p:ext uri="{BB962C8B-B14F-4D97-AF65-F5344CB8AC3E}">
        <p14:creationId xmlns:p14="http://schemas.microsoft.com/office/powerpoint/2010/main" val="167621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E1B38-E203-1A0E-8A84-DCB92FFCC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08388DE-8186-63D0-DCB2-AFBC64EA6E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1" y="1158876"/>
            <a:ext cx="10668000" cy="223837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 marL="177800" indent="0">
              <a:buNone/>
              <a:defRPr/>
            </a:lvl2pPr>
          </a:lstStyle>
          <a:p>
            <a:pPr lvl="0"/>
            <a:r>
              <a:rPr lang="en-GB"/>
              <a:t>Subtitle can be place here</a:t>
            </a:r>
          </a:p>
        </p:txBody>
      </p:sp>
    </p:spTree>
    <p:extLst>
      <p:ext uri="{BB962C8B-B14F-4D97-AF65-F5344CB8AC3E}">
        <p14:creationId xmlns:p14="http://schemas.microsoft.com/office/powerpoint/2010/main" val="361309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|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0532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Title Only Gradient">
    <p:bg>
      <p:bgPr>
        <a:gradFill>
          <a:gsLst>
            <a:gs pos="75000">
              <a:schemeClr val="tx2"/>
            </a:gs>
            <a:gs pos="0">
              <a:schemeClr val="tx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ue and green gradient&#10;&#10;Description automatically generated">
            <a:extLst>
              <a:ext uri="{FF2B5EF4-FFF2-40B4-BE49-F238E27FC236}">
                <a16:creationId xmlns:a16="http://schemas.microsoft.com/office/drawing/2014/main" id="{99CB69DE-A18D-8CDB-4AC3-97CFD699B1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1237" cy="68575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6875F7-FB91-22C5-6D3E-8424F937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427DD9BA-7EDF-E7CC-1DA1-FDDE33A300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1" y="1158876"/>
            <a:ext cx="10668000" cy="223837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 marL="177800" indent="0">
              <a:buNone/>
              <a:defRPr/>
            </a:lvl2pPr>
          </a:lstStyle>
          <a:p>
            <a:pPr lvl="0"/>
            <a:r>
              <a:rPr lang="en-GB"/>
              <a:t>Subtitle can be place here</a:t>
            </a:r>
          </a:p>
        </p:txBody>
      </p:sp>
      <p:grpSp>
        <p:nvGrpSpPr>
          <p:cNvPr id="16" name="Graphic 36">
            <a:extLst>
              <a:ext uri="{FF2B5EF4-FFF2-40B4-BE49-F238E27FC236}">
                <a16:creationId xmlns:a16="http://schemas.microsoft.com/office/drawing/2014/main" id="{1AADE44B-3DA2-D7F8-E813-A450E8854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40517" y="6480810"/>
            <a:ext cx="422423" cy="178169"/>
            <a:chOff x="11131751" y="6540638"/>
            <a:chExt cx="422423" cy="178169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83DB73-76F6-6C8D-084F-A55EC6939D07}"/>
                </a:ext>
              </a:extLst>
            </p:cNvPr>
            <p:cNvSpPr/>
            <p:nvPr/>
          </p:nvSpPr>
          <p:spPr>
            <a:xfrm>
              <a:off x="11131751" y="6543058"/>
              <a:ext cx="33285" cy="33285"/>
            </a:xfrm>
            <a:custGeom>
              <a:avLst/>
              <a:gdLst>
                <a:gd name="connsiteX0" fmla="*/ 0 w 33285"/>
                <a:gd name="connsiteY0" fmla="*/ 0 h 33285"/>
                <a:gd name="connsiteX1" fmla="*/ 33286 w 33285"/>
                <a:gd name="connsiteY1" fmla="*/ 0 h 33285"/>
                <a:gd name="connsiteX2" fmla="*/ 33286 w 33285"/>
                <a:gd name="connsiteY2" fmla="*/ 33286 h 33285"/>
                <a:gd name="connsiteX3" fmla="*/ 0 w 33285"/>
                <a:gd name="connsiteY3" fmla="*/ 33286 h 33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85" h="33285">
                  <a:moveTo>
                    <a:pt x="0" y="0"/>
                  </a:moveTo>
                  <a:lnTo>
                    <a:pt x="33286" y="0"/>
                  </a:lnTo>
                  <a:lnTo>
                    <a:pt x="33286" y="33286"/>
                  </a:lnTo>
                  <a:lnTo>
                    <a:pt x="0" y="33286"/>
                  </a:lnTo>
                  <a:close/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C5107D8-178E-6AA9-8B6B-FF2D3D3864CF}"/>
                </a:ext>
              </a:extLst>
            </p:cNvPr>
            <p:cNvSpPr/>
            <p:nvPr/>
          </p:nvSpPr>
          <p:spPr>
            <a:xfrm>
              <a:off x="11132638" y="6540638"/>
              <a:ext cx="421536" cy="178169"/>
            </a:xfrm>
            <a:custGeom>
              <a:avLst/>
              <a:gdLst>
                <a:gd name="connsiteX0" fmla="*/ 31551 w 421536"/>
                <a:gd name="connsiteY0" fmla="*/ 55880 h 178169"/>
                <a:gd name="connsiteX1" fmla="*/ 0 w 421536"/>
                <a:gd name="connsiteY1" fmla="*/ 55880 h 178169"/>
                <a:gd name="connsiteX2" fmla="*/ 0 w 421536"/>
                <a:gd name="connsiteY2" fmla="*/ 175668 h 178169"/>
                <a:gd name="connsiteX3" fmla="*/ 31551 w 421536"/>
                <a:gd name="connsiteY3" fmla="*/ 175668 h 178169"/>
                <a:gd name="connsiteX4" fmla="*/ 31551 w 421536"/>
                <a:gd name="connsiteY4" fmla="*/ 55880 h 178169"/>
                <a:gd name="connsiteX5" fmla="*/ 240705 w 421536"/>
                <a:gd name="connsiteY5" fmla="*/ 176878 h 178169"/>
                <a:gd name="connsiteX6" fmla="*/ 240705 w 421536"/>
                <a:gd name="connsiteY6" fmla="*/ 147506 h 178169"/>
                <a:gd name="connsiteX7" fmla="*/ 229287 w 421536"/>
                <a:gd name="connsiteY7" fmla="*/ 146780 h 178169"/>
                <a:gd name="connsiteX8" fmla="*/ 221863 w 421536"/>
                <a:gd name="connsiteY8" fmla="*/ 143512 h 178169"/>
                <a:gd name="connsiteX9" fmla="*/ 218595 w 421536"/>
                <a:gd name="connsiteY9" fmla="*/ 136371 h 178169"/>
                <a:gd name="connsiteX10" fmla="*/ 217869 w 421536"/>
                <a:gd name="connsiteY10" fmla="*/ 124791 h 178169"/>
                <a:gd name="connsiteX11" fmla="*/ 217869 w 421536"/>
                <a:gd name="connsiteY11" fmla="*/ 82871 h 178169"/>
                <a:gd name="connsiteX12" fmla="*/ 240705 w 421536"/>
                <a:gd name="connsiteY12" fmla="*/ 82871 h 178169"/>
                <a:gd name="connsiteX13" fmla="*/ 240705 w 421536"/>
                <a:gd name="connsiteY13" fmla="*/ 55880 h 178169"/>
                <a:gd name="connsiteX14" fmla="*/ 217869 w 421536"/>
                <a:gd name="connsiteY14" fmla="*/ 55880 h 178169"/>
                <a:gd name="connsiteX15" fmla="*/ 217869 w 421536"/>
                <a:gd name="connsiteY15" fmla="*/ 9239 h 178169"/>
                <a:gd name="connsiteX16" fmla="*/ 186318 w 421536"/>
                <a:gd name="connsiteY16" fmla="*/ 9239 h 178169"/>
                <a:gd name="connsiteX17" fmla="*/ 186318 w 421536"/>
                <a:gd name="connsiteY17" fmla="*/ 125033 h 178169"/>
                <a:gd name="connsiteX18" fmla="*/ 188860 w 421536"/>
                <a:gd name="connsiteY18" fmla="*/ 149725 h 178169"/>
                <a:gd name="connsiteX19" fmla="*/ 197252 w 421536"/>
                <a:gd name="connsiteY19" fmla="*/ 165622 h 178169"/>
                <a:gd name="connsiteX20" fmla="*/ 212664 w 421536"/>
                <a:gd name="connsiteY20" fmla="*/ 174256 h 178169"/>
                <a:gd name="connsiteX21" fmla="*/ 236751 w 421536"/>
                <a:gd name="connsiteY21" fmla="*/ 176919 h 178169"/>
                <a:gd name="connsiteX22" fmla="*/ 240705 w 421536"/>
                <a:gd name="connsiteY22" fmla="*/ 176919 h 178169"/>
                <a:gd name="connsiteX23" fmla="*/ 421536 w 421536"/>
                <a:gd name="connsiteY23" fmla="*/ 0 h 178169"/>
                <a:gd name="connsiteX24" fmla="*/ 389985 w 421536"/>
                <a:gd name="connsiteY24" fmla="*/ 0 h 178169"/>
                <a:gd name="connsiteX25" fmla="*/ 389985 w 421536"/>
                <a:gd name="connsiteY25" fmla="*/ 175668 h 178169"/>
                <a:gd name="connsiteX26" fmla="*/ 421536 w 421536"/>
                <a:gd name="connsiteY26" fmla="*/ 175668 h 178169"/>
                <a:gd name="connsiteX27" fmla="*/ 421536 w 421536"/>
                <a:gd name="connsiteY27" fmla="*/ 0 h 178169"/>
                <a:gd name="connsiteX28" fmla="*/ 155857 w 421536"/>
                <a:gd name="connsiteY28" fmla="*/ 67701 h 178169"/>
                <a:gd name="connsiteX29" fmla="*/ 119142 w 421536"/>
                <a:gd name="connsiteY29" fmla="*/ 53459 h 178169"/>
                <a:gd name="connsiteX30" fmla="*/ 98444 w 421536"/>
                <a:gd name="connsiteY30" fmla="*/ 58058 h 178169"/>
                <a:gd name="connsiteX31" fmla="*/ 82750 w 421536"/>
                <a:gd name="connsiteY31" fmla="*/ 70848 h 178169"/>
                <a:gd name="connsiteX32" fmla="*/ 81015 w 421536"/>
                <a:gd name="connsiteY32" fmla="*/ 73067 h 178169"/>
                <a:gd name="connsiteX33" fmla="*/ 81015 w 421536"/>
                <a:gd name="connsiteY33" fmla="*/ 71090 h 178169"/>
                <a:gd name="connsiteX34" fmla="*/ 81015 w 421536"/>
                <a:gd name="connsiteY34" fmla="*/ 55920 h 178169"/>
                <a:gd name="connsiteX35" fmla="*/ 49948 w 421536"/>
                <a:gd name="connsiteY35" fmla="*/ 55920 h 178169"/>
                <a:gd name="connsiteX36" fmla="*/ 49948 w 421536"/>
                <a:gd name="connsiteY36" fmla="*/ 175708 h 178169"/>
                <a:gd name="connsiteX37" fmla="*/ 81297 w 421536"/>
                <a:gd name="connsiteY37" fmla="*/ 175708 h 178169"/>
                <a:gd name="connsiteX38" fmla="*/ 81297 w 421536"/>
                <a:gd name="connsiteY38" fmla="*/ 111880 h 178169"/>
                <a:gd name="connsiteX39" fmla="*/ 81338 w 421536"/>
                <a:gd name="connsiteY39" fmla="*/ 116319 h 178169"/>
                <a:gd name="connsiteX40" fmla="*/ 81378 w 421536"/>
                <a:gd name="connsiteY40" fmla="*/ 114180 h 178169"/>
                <a:gd name="connsiteX41" fmla="*/ 89689 w 421536"/>
                <a:gd name="connsiteY41" fmla="*/ 89327 h 178169"/>
                <a:gd name="connsiteX42" fmla="*/ 109701 w 421536"/>
                <a:gd name="connsiteY42" fmla="*/ 80814 h 178169"/>
                <a:gd name="connsiteX43" fmla="*/ 130358 w 421536"/>
                <a:gd name="connsiteY43" fmla="*/ 89125 h 178169"/>
                <a:gd name="connsiteX44" fmla="*/ 137217 w 421536"/>
                <a:gd name="connsiteY44" fmla="*/ 112082 h 178169"/>
                <a:gd name="connsiteX45" fmla="*/ 137217 w 421536"/>
                <a:gd name="connsiteY45" fmla="*/ 112082 h 178169"/>
                <a:gd name="connsiteX46" fmla="*/ 137217 w 421536"/>
                <a:gd name="connsiteY46" fmla="*/ 112324 h 178169"/>
                <a:gd name="connsiteX47" fmla="*/ 137217 w 421536"/>
                <a:gd name="connsiteY47" fmla="*/ 112365 h 178169"/>
                <a:gd name="connsiteX48" fmla="*/ 137217 w 421536"/>
                <a:gd name="connsiteY48" fmla="*/ 175708 h 178169"/>
                <a:gd name="connsiteX49" fmla="*/ 169050 w 421536"/>
                <a:gd name="connsiteY49" fmla="*/ 175708 h 178169"/>
                <a:gd name="connsiteX50" fmla="*/ 169050 w 421536"/>
                <a:gd name="connsiteY50" fmla="*/ 107684 h 178169"/>
                <a:gd name="connsiteX51" fmla="*/ 155857 w 421536"/>
                <a:gd name="connsiteY51" fmla="*/ 67701 h 178169"/>
                <a:gd name="connsiteX52" fmla="*/ 373524 w 421536"/>
                <a:gd name="connsiteY52" fmla="*/ 115552 h 178169"/>
                <a:gd name="connsiteX53" fmla="*/ 368965 w 421536"/>
                <a:gd name="connsiteY53" fmla="*/ 91344 h 178169"/>
                <a:gd name="connsiteX54" fmla="*/ 356256 w 421536"/>
                <a:gd name="connsiteY54" fmla="*/ 71574 h 178169"/>
                <a:gd name="connsiteX55" fmla="*/ 336729 w 421536"/>
                <a:gd name="connsiteY55" fmla="*/ 58300 h 178169"/>
                <a:gd name="connsiteX56" fmla="*/ 311674 w 421536"/>
                <a:gd name="connsiteY56" fmla="*/ 53499 h 178169"/>
                <a:gd name="connsiteX57" fmla="*/ 287345 w 421536"/>
                <a:gd name="connsiteY57" fmla="*/ 58422 h 178169"/>
                <a:gd name="connsiteX58" fmla="*/ 267575 w 421536"/>
                <a:gd name="connsiteY58" fmla="*/ 71736 h 178169"/>
                <a:gd name="connsiteX59" fmla="*/ 254261 w 421536"/>
                <a:gd name="connsiteY59" fmla="*/ 91506 h 178169"/>
                <a:gd name="connsiteX60" fmla="*/ 249339 w 421536"/>
                <a:gd name="connsiteY60" fmla="*/ 115834 h 178169"/>
                <a:gd name="connsiteX61" fmla="*/ 254019 w 421536"/>
                <a:gd name="connsiteY61" fmla="*/ 140163 h 178169"/>
                <a:gd name="connsiteX62" fmla="*/ 266970 w 421536"/>
                <a:gd name="connsiteY62" fmla="*/ 159933 h 178169"/>
                <a:gd name="connsiteX63" fmla="*/ 286982 w 421536"/>
                <a:gd name="connsiteY63" fmla="*/ 173247 h 178169"/>
                <a:gd name="connsiteX64" fmla="*/ 312642 w 421536"/>
                <a:gd name="connsiteY64" fmla="*/ 178170 h 178169"/>
                <a:gd name="connsiteX65" fmla="*/ 365939 w 421536"/>
                <a:gd name="connsiteY65" fmla="*/ 154648 h 178169"/>
                <a:gd name="connsiteX66" fmla="*/ 343224 w 421536"/>
                <a:gd name="connsiteY66" fmla="*/ 137339 h 178169"/>
                <a:gd name="connsiteX67" fmla="*/ 312884 w 421536"/>
                <a:gd name="connsiteY67" fmla="*/ 150734 h 178169"/>
                <a:gd name="connsiteX68" fmla="*/ 291097 w 421536"/>
                <a:gd name="connsiteY68" fmla="*/ 144601 h 178169"/>
                <a:gd name="connsiteX69" fmla="*/ 279720 w 421536"/>
                <a:gd name="connsiteY69" fmla="*/ 127979 h 178169"/>
                <a:gd name="connsiteX70" fmla="*/ 279397 w 421536"/>
                <a:gd name="connsiteY70" fmla="*/ 126849 h 178169"/>
                <a:gd name="connsiteX71" fmla="*/ 373524 w 421536"/>
                <a:gd name="connsiteY71" fmla="*/ 126849 h 178169"/>
                <a:gd name="connsiteX72" fmla="*/ 373524 w 421536"/>
                <a:gd name="connsiteY72" fmla="*/ 115552 h 178169"/>
                <a:gd name="connsiteX73" fmla="*/ 279720 w 421536"/>
                <a:gd name="connsiteY73" fmla="*/ 104537 h 178169"/>
                <a:gd name="connsiteX74" fmla="*/ 311472 w 421536"/>
                <a:gd name="connsiteY74" fmla="*/ 80451 h 178169"/>
                <a:gd name="connsiteX75" fmla="*/ 343265 w 421536"/>
                <a:gd name="connsiteY75" fmla="*/ 104497 h 178169"/>
                <a:gd name="connsiteX76" fmla="*/ 279720 w 421536"/>
                <a:gd name="connsiteY76" fmla="*/ 104537 h 178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21536" h="178169">
                  <a:moveTo>
                    <a:pt x="31551" y="55880"/>
                  </a:moveTo>
                  <a:lnTo>
                    <a:pt x="0" y="55880"/>
                  </a:lnTo>
                  <a:lnTo>
                    <a:pt x="0" y="175668"/>
                  </a:lnTo>
                  <a:lnTo>
                    <a:pt x="31551" y="175668"/>
                  </a:lnTo>
                  <a:lnTo>
                    <a:pt x="31551" y="55880"/>
                  </a:lnTo>
                  <a:close/>
                  <a:moveTo>
                    <a:pt x="240705" y="176878"/>
                  </a:moveTo>
                  <a:lnTo>
                    <a:pt x="240705" y="147506"/>
                  </a:lnTo>
                  <a:cubicBezTo>
                    <a:pt x="236065" y="147466"/>
                    <a:pt x="232232" y="147224"/>
                    <a:pt x="229287" y="146780"/>
                  </a:cubicBezTo>
                  <a:cubicBezTo>
                    <a:pt x="226019" y="146256"/>
                    <a:pt x="223517" y="145166"/>
                    <a:pt x="221863" y="143512"/>
                  </a:cubicBezTo>
                  <a:cubicBezTo>
                    <a:pt x="220209" y="141858"/>
                    <a:pt x="219120" y="139437"/>
                    <a:pt x="218595" y="136371"/>
                  </a:cubicBezTo>
                  <a:cubicBezTo>
                    <a:pt x="218111" y="133425"/>
                    <a:pt x="217869" y="129512"/>
                    <a:pt x="217869" y="124791"/>
                  </a:cubicBezTo>
                  <a:lnTo>
                    <a:pt x="217869" y="82871"/>
                  </a:lnTo>
                  <a:lnTo>
                    <a:pt x="240705" y="82871"/>
                  </a:lnTo>
                  <a:lnTo>
                    <a:pt x="240705" y="55880"/>
                  </a:lnTo>
                  <a:lnTo>
                    <a:pt x="217869" y="55880"/>
                  </a:lnTo>
                  <a:lnTo>
                    <a:pt x="217869" y="9239"/>
                  </a:lnTo>
                  <a:lnTo>
                    <a:pt x="186318" y="9239"/>
                  </a:lnTo>
                  <a:lnTo>
                    <a:pt x="186318" y="125033"/>
                  </a:lnTo>
                  <a:cubicBezTo>
                    <a:pt x="186318" y="134797"/>
                    <a:pt x="187166" y="143109"/>
                    <a:pt x="188860" y="149725"/>
                  </a:cubicBezTo>
                  <a:cubicBezTo>
                    <a:pt x="190514" y="156261"/>
                    <a:pt x="193339" y="161628"/>
                    <a:pt x="197252" y="165622"/>
                  </a:cubicBezTo>
                  <a:cubicBezTo>
                    <a:pt x="201166" y="169616"/>
                    <a:pt x="206370" y="172521"/>
                    <a:pt x="212664" y="174256"/>
                  </a:cubicBezTo>
                  <a:cubicBezTo>
                    <a:pt x="219039" y="175991"/>
                    <a:pt x="227149" y="176919"/>
                    <a:pt x="236751" y="176919"/>
                  </a:cubicBezTo>
                  <a:lnTo>
                    <a:pt x="240705" y="176919"/>
                  </a:lnTo>
                  <a:close/>
                  <a:moveTo>
                    <a:pt x="421536" y="0"/>
                  </a:moveTo>
                  <a:lnTo>
                    <a:pt x="389985" y="0"/>
                  </a:lnTo>
                  <a:lnTo>
                    <a:pt x="389985" y="175668"/>
                  </a:lnTo>
                  <a:lnTo>
                    <a:pt x="421536" y="175668"/>
                  </a:lnTo>
                  <a:lnTo>
                    <a:pt x="421536" y="0"/>
                  </a:lnTo>
                  <a:close/>
                  <a:moveTo>
                    <a:pt x="155857" y="67701"/>
                  </a:moveTo>
                  <a:cubicBezTo>
                    <a:pt x="147102" y="58260"/>
                    <a:pt x="134756" y="53459"/>
                    <a:pt x="119142" y="53459"/>
                  </a:cubicBezTo>
                  <a:cubicBezTo>
                    <a:pt x="111597" y="53459"/>
                    <a:pt x="104658" y="55032"/>
                    <a:pt x="98444" y="58058"/>
                  </a:cubicBezTo>
                  <a:cubicBezTo>
                    <a:pt x="92231" y="61125"/>
                    <a:pt x="86946" y="65442"/>
                    <a:pt x="82750" y="70848"/>
                  </a:cubicBezTo>
                  <a:lnTo>
                    <a:pt x="81015" y="73067"/>
                  </a:lnTo>
                  <a:lnTo>
                    <a:pt x="81015" y="71090"/>
                  </a:lnTo>
                  <a:lnTo>
                    <a:pt x="81015" y="55920"/>
                  </a:lnTo>
                  <a:lnTo>
                    <a:pt x="49948" y="55920"/>
                  </a:lnTo>
                  <a:lnTo>
                    <a:pt x="49948" y="175708"/>
                  </a:lnTo>
                  <a:lnTo>
                    <a:pt x="81297" y="175708"/>
                  </a:lnTo>
                  <a:lnTo>
                    <a:pt x="81297" y="111880"/>
                  </a:lnTo>
                  <a:lnTo>
                    <a:pt x="81338" y="116319"/>
                  </a:lnTo>
                  <a:cubicBezTo>
                    <a:pt x="81338" y="115592"/>
                    <a:pt x="81338" y="114866"/>
                    <a:pt x="81378" y="114180"/>
                  </a:cubicBezTo>
                  <a:cubicBezTo>
                    <a:pt x="81701" y="103004"/>
                    <a:pt x="84485" y="94653"/>
                    <a:pt x="89689" y="89327"/>
                  </a:cubicBezTo>
                  <a:cubicBezTo>
                    <a:pt x="95217" y="83678"/>
                    <a:pt x="101955" y="80814"/>
                    <a:pt x="109701" y="80814"/>
                  </a:cubicBezTo>
                  <a:cubicBezTo>
                    <a:pt x="118819" y="80814"/>
                    <a:pt x="125759" y="83598"/>
                    <a:pt x="130358" y="89125"/>
                  </a:cubicBezTo>
                  <a:cubicBezTo>
                    <a:pt x="134877" y="94532"/>
                    <a:pt x="137177" y="102238"/>
                    <a:pt x="137217" y="112082"/>
                  </a:cubicBezTo>
                  <a:lnTo>
                    <a:pt x="137217" y="112082"/>
                  </a:lnTo>
                  <a:lnTo>
                    <a:pt x="137217" y="112324"/>
                  </a:lnTo>
                  <a:lnTo>
                    <a:pt x="137217" y="112365"/>
                  </a:lnTo>
                  <a:lnTo>
                    <a:pt x="137217" y="175708"/>
                  </a:lnTo>
                  <a:lnTo>
                    <a:pt x="169050" y="175708"/>
                  </a:lnTo>
                  <a:lnTo>
                    <a:pt x="169050" y="107684"/>
                  </a:lnTo>
                  <a:cubicBezTo>
                    <a:pt x="169091" y="90618"/>
                    <a:pt x="164612" y="77142"/>
                    <a:pt x="155857" y="67701"/>
                  </a:cubicBezTo>
                  <a:moveTo>
                    <a:pt x="373524" y="115552"/>
                  </a:moveTo>
                  <a:cubicBezTo>
                    <a:pt x="373524" y="106958"/>
                    <a:pt x="371991" y="98808"/>
                    <a:pt x="368965" y="91344"/>
                  </a:cubicBezTo>
                  <a:cubicBezTo>
                    <a:pt x="365939" y="83880"/>
                    <a:pt x="361662" y="77223"/>
                    <a:pt x="356256" y="71574"/>
                  </a:cubicBezTo>
                  <a:cubicBezTo>
                    <a:pt x="350850" y="65926"/>
                    <a:pt x="344273" y="61448"/>
                    <a:pt x="336729" y="58300"/>
                  </a:cubicBezTo>
                  <a:cubicBezTo>
                    <a:pt x="329184" y="55113"/>
                    <a:pt x="320752" y="53499"/>
                    <a:pt x="311674" y="53499"/>
                  </a:cubicBezTo>
                  <a:cubicBezTo>
                    <a:pt x="303080" y="53499"/>
                    <a:pt x="294890" y="55153"/>
                    <a:pt x="287345" y="58422"/>
                  </a:cubicBezTo>
                  <a:cubicBezTo>
                    <a:pt x="279800" y="61690"/>
                    <a:pt x="273143" y="66168"/>
                    <a:pt x="267575" y="71736"/>
                  </a:cubicBezTo>
                  <a:cubicBezTo>
                    <a:pt x="262008" y="77304"/>
                    <a:pt x="257529" y="83961"/>
                    <a:pt x="254261" y="91506"/>
                  </a:cubicBezTo>
                  <a:cubicBezTo>
                    <a:pt x="250993" y="99050"/>
                    <a:pt x="249339" y="107241"/>
                    <a:pt x="249339" y="115834"/>
                  </a:cubicBezTo>
                  <a:cubicBezTo>
                    <a:pt x="249339" y="124428"/>
                    <a:pt x="250912" y="132619"/>
                    <a:pt x="254019" y="140163"/>
                  </a:cubicBezTo>
                  <a:cubicBezTo>
                    <a:pt x="257126" y="147708"/>
                    <a:pt x="261483" y="154365"/>
                    <a:pt x="266970" y="159933"/>
                  </a:cubicBezTo>
                  <a:cubicBezTo>
                    <a:pt x="272457" y="165501"/>
                    <a:pt x="279195" y="169979"/>
                    <a:pt x="286982" y="173247"/>
                  </a:cubicBezTo>
                  <a:cubicBezTo>
                    <a:pt x="294769" y="176515"/>
                    <a:pt x="303403" y="178170"/>
                    <a:pt x="312642" y="178170"/>
                  </a:cubicBezTo>
                  <a:cubicBezTo>
                    <a:pt x="339351" y="178170"/>
                    <a:pt x="355974" y="166025"/>
                    <a:pt x="365939" y="154648"/>
                  </a:cubicBezTo>
                  <a:lnTo>
                    <a:pt x="343224" y="137339"/>
                  </a:lnTo>
                  <a:cubicBezTo>
                    <a:pt x="338423" y="143028"/>
                    <a:pt x="327086" y="150734"/>
                    <a:pt x="312884" y="150734"/>
                  </a:cubicBezTo>
                  <a:cubicBezTo>
                    <a:pt x="303968" y="150734"/>
                    <a:pt x="296665" y="148676"/>
                    <a:pt x="291097" y="144601"/>
                  </a:cubicBezTo>
                  <a:cubicBezTo>
                    <a:pt x="285529" y="140526"/>
                    <a:pt x="281697" y="134959"/>
                    <a:pt x="279720" y="127979"/>
                  </a:cubicBezTo>
                  <a:lnTo>
                    <a:pt x="279397" y="126849"/>
                  </a:lnTo>
                  <a:lnTo>
                    <a:pt x="373524" y="126849"/>
                  </a:lnTo>
                  <a:lnTo>
                    <a:pt x="373524" y="115552"/>
                  </a:lnTo>
                  <a:close/>
                  <a:moveTo>
                    <a:pt x="279720" y="104537"/>
                  </a:moveTo>
                  <a:cubicBezTo>
                    <a:pt x="279720" y="95782"/>
                    <a:pt x="289766" y="80451"/>
                    <a:pt x="311472" y="80451"/>
                  </a:cubicBezTo>
                  <a:cubicBezTo>
                    <a:pt x="333178" y="80451"/>
                    <a:pt x="343265" y="95742"/>
                    <a:pt x="343265" y="104497"/>
                  </a:cubicBezTo>
                  <a:lnTo>
                    <a:pt x="279720" y="104537"/>
                  </a:lnTo>
                  <a:close/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9" name="Rectangle 18" descr="Intel Confidential">
            <a:extLst>
              <a:ext uri="{FF2B5EF4-FFF2-40B4-BE49-F238E27FC236}">
                <a16:creationId xmlns:a16="http://schemas.microsoft.com/office/drawing/2014/main" id="{C5B4B902-410B-C84A-246C-9E7A85F63282}"/>
              </a:ext>
            </a:extLst>
          </p:cNvPr>
          <p:cNvSpPr/>
          <p:nvPr userDrawn="1"/>
        </p:nvSpPr>
        <p:spPr>
          <a:xfrm>
            <a:off x="10727019" y="6480810"/>
            <a:ext cx="1213795" cy="22860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en-US" sz="900" b="0" i="0">
                <a:solidFill>
                  <a:schemeClr val="bg1">
                    <a:alpha val="75000"/>
                  </a:schemeClr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20" name="Rectangle 19" descr="Department or Event Name">
            <a:extLst>
              <a:ext uri="{FF2B5EF4-FFF2-40B4-BE49-F238E27FC236}">
                <a16:creationId xmlns:a16="http://schemas.microsoft.com/office/drawing/2014/main" id="{CEACC04E-4311-1A06-58B0-F30655E9C3C2}"/>
              </a:ext>
            </a:extLst>
          </p:cNvPr>
          <p:cNvSpPr/>
          <p:nvPr userDrawn="1"/>
        </p:nvSpPr>
        <p:spPr>
          <a:xfrm>
            <a:off x="823793" y="648081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en-US" sz="900" b="0" i="0">
                <a:solidFill>
                  <a:schemeClr val="bg1">
                    <a:alpha val="75000"/>
                  </a:schemeClr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CCG | WSG</a:t>
            </a:r>
          </a:p>
        </p:txBody>
      </p:sp>
    </p:spTree>
    <p:extLst>
      <p:ext uri="{BB962C8B-B14F-4D97-AF65-F5344CB8AC3E}">
        <p14:creationId xmlns:p14="http://schemas.microsoft.com/office/powerpoint/2010/main" val="3208983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| Empty Gradient">
    <p:bg>
      <p:bgPr>
        <a:gradFill>
          <a:gsLst>
            <a:gs pos="75000">
              <a:schemeClr val="tx2"/>
            </a:gs>
            <a:gs pos="0">
              <a:schemeClr val="tx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210AEA-3393-388E-5955-99BBC50512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4" name="Graphic 36">
            <a:extLst>
              <a:ext uri="{FF2B5EF4-FFF2-40B4-BE49-F238E27FC236}">
                <a16:creationId xmlns:a16="http://schemas.microsoft.com/office/drawing/2014/main" id="{E8912039-D99D-582D-A89E-7314604C0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40517" y="6480810"/>
            <a:ext cx="422423" cy="178169"/>
            <a:chOff x="11131751" y="6540638"/>
            <a:chExt cx="422423" cy="178169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26C5810-8941-1470-693B-12A195EDB87C}"/>
                </a:ext>
              </a:extLst>
            </p:cNvPr>
            <p:cNvSpPr/>
            <p:nvPr/>
          </p:nvSpPr>
          <p:spPr>
            <a:xfrm>
              <a:off x="11131751" y="6543058"/>
              <a:ext cx="33285" cy="33285"/>
            </a:xfrm>
            <a:custGeom>
              <a:avLst/>
              <a:gdLst>
                <a:gd name="connsiteX0" fmla="*/ 0 w 33285"/>
                <a:gd name="connsiteY0" fmla="*/ 0 h 33285"/>
                <a:gd name="connsiteX1" fmla="*/ 33286 w 33285"/>
                <a:gd name="connsiteY1" fmla="*/ 0 h 33285"/>
                <a:gd name="connsiteX2" fmla="*/ 33286 w 33285"/>
                <a:gd name="connsiteY2" fmla="*/ 33286 h 33285"/>
                <a:gd name="connsiteX3" fmla="*/ 0 w 33285"/>
                <a:gd name="connsiteY3" fmla="*/ 33286 h 33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85" h="33285">
                  <a:moveTo>
                    <a:pt x="0" y="0"/>
                  </a:moveTo>
                  <a:lnTo>
                    <a:pt x="33286" y="0"/>
                  </a:lnTo>
                  <a:lnTo>
                    <a:pt x="33286" y="33286"/>
                  </a:lnTo>
                  <a:lnTo>
                    <a:pt x="0" y="33286"/>
                  </a:lnTo>
                  <a:close/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617566-BFD3-8C81-3F89-4BD3860D2422}"/>
                </a:ext>
              </a:extLst>
            </p:cNvPr>
            <p:cNvSpPr/>
            <p:nvPr/>
          </p:nvSpPr>
          <p:spPr>
            <a:xfrm>
              <a:off x="11132638" y="6540638"/>
              <a:ext cx="421536" cy="178169"/>
            </a:xfrm>
            <a:custGeom>
              <a:avLst/>
              <a:gdLst>
                <a:gd name="connsiteX0" fmla="*/ 31551 w 421536"/>
                <a:gd name="connsiteY0" fmla="*/ 55880 h 178169"/>
                <a:gd name="connsiteX1" fmla="*/ 0 w 421536"/>
                <a:gd name="connsiteY1" fmla="*/ 55880 h 178169"/>
                <a:gd name="connsiteX2" fmla="*/ 0 w 421536"/>
                <a:gd name="connsiteY2" fmla="*/ 175668 h 178169"/>
                <a:gd name="connsiteX3" fmla="*/ 31551 w 421536"/>
                <a:gd name="connsiteY3" fmla="*/ 175668 h 178169"/>
                <a:gd name="connsiteX4" fmla="*/ 31551 w 421536"/>
                <a:gd name="connsiteY4" fmla="*/ 55880 h 178169"/>
                <a:gd name="connsiteX5" fmla="*/ 240705 w 421536"/>
                <a:gd name="connsiteY5" fmla="*/ 176878 h 178169"/>
                <a:gd name="connsiteX6" fmla="*/ 240705 w 421536"/>
                <a:gd name="connsiteY6" fmla="*/ 147506 h 178169"/>
                <a:gd name="connsiteX7" fmla="*/ 229287 w 421536"/>
                <a:gd name="connsiteY7" fmla="*/ 146780 h 178169"/>
                <a:gd name="connsiteX8" fmla="*/ 221863 w 421536"/>
                <a:gd name="connsiteY8" fmla="*/ 143512 h 178169"/>
                <a:gd name="connsiteX9" fmla="*/ 218595 w 421536"/>
                <a:gd name="connsiteY9" fmla="*/ 136371 h 178169"/>
                <a:gd name="connsiteX10" fmla="*/ 217869 w 421536"/>
                <a:gd name="connsiteY10" fmla="*/ 124791 h 178169"/>
                <a:gd name="connsiteX11" fmla="*/ 217869 w 421536"/>
                <a:gd name="connsiteY11" fmla="*/ 82871 h 178169"/>
                <a:gd name="connsiteX12" fmla="*/ 240705 w 421536"/>
                <a:gd name="connsiteY12" fmla="*/ 82871 h 178169"/>
                <a:gd name="connsiteX13" fmla="*/ 240705 w 421536"/>
                <a:gd name="connsiteY13" fmla="*/ 55880 h 178169"/>
                <a:gd name="connsiteX14" fmla="*/ 217869 w 421536"/>
                <a:gd name="connsiteY14" fmla="*/ 55880 h 178169"/>
                <a:gd name="connsiteX15" fmla="*/ 217869 w 421536"/>
                <a:gd name="connsiteY15" fmla="*/ 9239 h 178169"/>
                <a:gd name="connsiteX16" fmla="*/ 186318 w 421536"/>
                <a:gd name="connsiteY16" fmla="*/ 9239 h 178169"/>
                <a:gd name="connsiteX17" fmla="*/ 186318 w 421536"/>
                <a:gd name="connsiteY17" fmla="*/ 125033 h 178169"/>
                <a:gd name="connsiteX18" fmla="*/ 188860 w 421536"/>
                <a:gd name="connsiteY18" fmla="*/ 149725 h 178169"/>
                <a:gd name="connsiteX19" fmla="*/ 197252 w 421536"/>
                <a:gd name="connsiteY19" fmla="*/ 165622 h 178169"/>
                <a:gd name="connsiteX20" fmla="*/ 212664 w 421536"/>
                <a:gd name="connsiteY20" fmla="*/ 174256 h 178169"/>
                <a:gd name="connsiteX21" fmla="*/ 236751 w 421536"/>
                <a:gd name="connsiteY21" fmla="*/ 176919 h 178169"/>
                <a:gd name="connsiteX22" fmla="*/ 240705 w 421536"/>
                <a:gd name="connsiteY22" fmla="*/ 176919 h 178169"/>
                <a:gd name="connsiteX23" fmla="*/ 421536 w 421536"/>
                <a:gd name="connsiteY23" fmla="*/ 0 h 178169"/>
                <a:gd name="connsiteX24" fmla="*/ 389985 w 421536"/>
                <a:gd name="connsiteY24" fmla="*/ 0 h 178169"/>
                <a:gd name="connsiteX25" fmla="*/ 389985 w 421536"/>
                <a:gd name="connsiteY25" fmla="*/ 175668 h 178169"/>
                <a:gd name="connsiteX26" fmla="*/ 421536 w 421536"/>
                <a:gd name="connsiteY26" fmla="*/ 175668 h 178169"/>
                <a:gd name="connsiteX27" fmla="*/ 421536 w 421536"/>
                <a:gd name="connsiteY27" fmla="*/ 0 h 178169"/>
                <a:gd name="connsiteX28" fmla="*/ 155857 w 421536"/>
                <a:gd name="connsiteY28" fmla="*/ 67701 h 178169"/>
                <a:gd name="connsiteX29" fmla="*/ 119142 w 421536"/>
                <a:gd name="connsiteY29" fmla="*/ 53459 h 178169"/>
                <a:gd name="connsiteX30" fmla="*/ 98444 w 421536"/>
                <a:gd name="connsiteY30" fmla="*/ 58058 h 178169"/>
                <a:gd name="connsiteX31" fmla="*/ 82750 w 421536"/>
                <a:gd name="connsiteY31" fmla="*/ 70848 h 178169"/>
                <a:gd name="connsiteX32" fmla="*/ 81015 w 421536"/>
                <a:gd name="connsiteY32" fmla="*/ 73067 h 178169"/>
                <a:gd name="connsiteX33" fmla="*/ 81015 w 421536"/>
                <a:gd name="connsiteY33" fmla="*/ 71090 h 178169"/>
                <a:gd name="connsiteX34" fmla="*/ 81015 w 421536"/>
                <a:gd name="connsiteY34" fmla="*/ 55920 h 178169"/>
                <a:gd name="connsiteX35" fmla="*/ 49948 w 421536"/>
                <a:gd name="connsiteY35" fmla="*/ 55920 h 178169"/>
                <a:gd name="connsiteX36" fmla="*/ 49948 w 421536"/>
                <a:gd name="connsiteY36" fmla="*/ 175708 h 178169"/>
                <a:gd name="connsiteX37" fmla="*/ 81297 w 421536"/>
                <a:gd name="connsiteY37" fmla="*/ 175708 h 178169"/>
                <a:gd name="connsiteX38" fmla="*/ 81297 w 421536"/>
                <a:gd name="connsiteY38" fmla="*/ 111880 h 178169"/>
                <a:gd name="connsiteX39" fmla="*/ 81338 w 421536"/>
                <a:gd name="connsiteY39" fmla="*/ 116319 h 178169"/>
                <a:gd name="connsiteX40" fmla="*/ 81378 w 421536"/>
                <a:gd name="connsiteY40" fmla="*/ 114180 h 178169"/>
                <a:gd name="connsiteX41" fmla="*/ 89689 w 421536"/>
                <a:gd name="connsiteY41" fmla="*/ 89327 h 178169"/>
                <a:gd name="connsiteX42" fmla="*/ 109701 w 421536"/>
                <a:gd name="connsiteY42" fmla="*/ 80814 h 178169"/>
                <a:gd name="connsiteX43" fmla="*/ 130358 w 421536"/>
                <a:gd name="connsiteY43" fmla="*/ 89125 h 178169"/>
                <a:gd name="connsiteX44" fmla="*/ 137217 w 421536"/>
                <a:gd name="connsiteY44" fmla="*/ 112082 h 178169"/>
                <a:gd name="connsiteX45" fmla="*/ 137217 w 421536"/>
                <a:gd name="connsiteY45" fmla="*/ 112082 h 178169"/>
                <a:gd name="connsiteX46" fmla="*/ 137217 w 421536"/>
                <a:gd name="connsiteY46" fmla="*/ 112324 h 178169"/>
                <a:gd name="connsiteX47" fmla="*/ 137217 w 421536"/>
                <a:gd name="connsiteY47" fmla="*/ 112365 h 178169"/>
                <a:gd name="connsiteX48" fmla="*/ 137217 w 421536"/>
                <a:gd name="connsiteY48" fmla="*/ 175708 h 178169"/>
                <a:gd name="connsiteX49" fmla="*/ 169050 w 421536"/>
                <a:gd name="connsiteY49" fmla="*/ 175708 h 178169"/>
                <a:gd name="connsiteX50" fmla="*/ 169050 w 421536"/>
                <a:gd name="connsiteY50" fmla="*/ 107684 h 178169"/>
                <a:gd name="connsiteX51" fmla="*/ 155857 w 421536"/>
                <a:gd name="connsiteY51" fmla="*/ 67701 h 178169"/>
                <a:gd name="connsiteX52" fmla="*/ 373524 w 421536"/>
                <a:gd name="connsiteY52" fmla="*/ 115552 h 178169"/>
                <a:gd name="connsiteX53" fmla="*/ 368965 w 421536"/>
                <a:gd name="connsiteY53" fmla="*/ 91344 h 178169"/>
                <a:gd name="connsiteX54" fmla="*/ 356256 w 421536"/>
                <a:gd name="connsiteY54" fmla="*/ 71574 h 178169"/>
                <a:gd name="connsiteX55" fmla="*/ 336729 w 421536"/>
                <a:gd name="connsiteY55" fmla="*/ 58300 h 178169"/>
                <a:gd name="connsiteX56" fmla="*/ 311674 w 421536"/>
                <a:gd name="connsiteY56" fmla="*/ 53499 h 178169"/>
                <a:gd name="connsiteX57" fmla="*/ 287345 w 421536"/>
                <a:gd name="connsiteY57" fmla="*/ 58422 h 178169"/>
                <a:gd name="connsiteX58" fmla="*/ 267575 w 421536"/>
                <a:gd name="connsiteY58" fmla="*/ 71736 h 178169"/>
                <a:gd name="connsiteX59" fmla="*/ 254261 w 421536"/>
                <a:gd name="connsiteY59" fmla="*/ 91506 h 178169"/>
                <a:gd name="connsiteX60" fmla="*/ 249339 w 421536"/>
                <a:gd name="connsiteY60" fmla="*/ 115834 h 178169"/>
                <a:gd name="connsiteX61" fmla="*/ 254019 w 421536"/>
                <a:gd name="connsiteY61" fmla="*/ 140163 h 178169"/>
                <a:gd name="connsiteX62" fmla="*/ 266970 w 421536"/>
                <a:gd name="connsiteY62" fmla="*/ 159933 h 178169"/>
                <a:gd name="connsiteX63" fmla="*/ 286982 w 421536"/>
                <a:gd name="connsiteY63" fmla="*/ 173247 h 178169"/>
                <a:gd name="connsiteX64" fmla="*/ 312642 w 421536"/>
                <a:gd name="connsiteY64" fmla="*/ 178170 h 178169"/>
                <a:gd name="connsiteX65" fmla="*/ 365939 w 421536"/>
                <a:gd name="connsiteY65" fmla="*/ 154648 h 178169"/>
                <a:gd name="connsiteX66" fmla="*/ 343224 w 421536"/>
                <a:gd name="connsiteY66" fmla="*/ 137339 h 178169"/>
                <a:gd name="connsiteX67" fmla="*/ 312884 w 421536"/>
                <a:gd name="connsiteY67" fmla="*/ 150734 h 178169"/>
                <a:gd name="connsiteX68" fmla="*/ 291097 w 421536"/>
                <a:gd name="connsiteY68" fmla="*/ 144601 h 178169"/>
                <a:gd name="connsiteX69" fmla="*/ 279720 w 421536"/>
                <a:gd name="connsiteY69" fmla="*/ 127979 h 178169"/>
                <a:gd name="connsiteX70" fmla="*/ 279397 w 421536"/>
                <a:gd name="connsiteY70" fmla="*/ 126849 h 178169"/>
                <a:gd name="connsiteX71" fmla="*/ 373524 w 421536"/>
                <a:gd name="connsiteY71" fmla="*/ 126849 h 178169"/>
                <a:gd name="connsiteX72" fmla="*/ 373524 w 421536"/>
                <a:gd name="connsiteY72" fmla="*/ 115552 h 178169"/>
                <a:gd name="connsiteX73" fmla="*/ 279720 w 421536"/>
                <a:gd name="connsiteY73" fmla="*/ 104537 h 178169"/>
                <a:gd name="connsiteX74" fmla="*/ 311472 w 421536"/>
                <a:gd name="connsiteY74" fmla="*/ 80451 h 178169"/>
                <a:gd name="connsiteX75" fmla="*/ 343265 w 421536"/>
                <a:gd name="connsiteY75" fmla="*/ 104497 h 178169"/>
                <a:gd name="connsiteX76" fmla="*/ 279720 w 421536"/>
                <a:gd name="connsiteY76" fmla="*/ 104537 h 178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21536" h="178169">
                  <a:moveTo>
                    <a:pt x="31551" y="55880"/>
                  </a:moveTo>
                  <a:lnTo>
                    <a:pt x="0" y="55880"/>
                  </a:lnTo>
                  <a:lnTo>
                    <a:pt x="0" y="175668"/>
                  </a:lnTo>
                  <a:lnTo>
                    <a:pt x="31551" y="175668"/>
                  </a:lnTo>
                  <a:lnTo>
                    <a:pt x="31551" y="55880"/>
                  </a:lnTo>
                  <a:close/>
                  <a:moveTo>
                    <a:pt x="240705" y="176878"/>
                  </a:moveTo>
                  <a:lnTo>
                    <a:pt x="240705" y="147506"/>
                  </a:lnTo>
                  <a:cubicBezTo>
                    <a:pt x="236065" y="147466"/>
                    <a:pt x="232232" y="147224"/>
                    <a:pt x="229287" y="146780"/>
                  </a:cubicBezTo>
                  <a:cubicBezTo>
                    <a:pt x="226019" y="146256"/>
                    <a:pt x="223517" y="145166"/>
                    <a:pt x="221863" y="143512"/>
                  </a:cubicBezTo>
                  <a:cubicBezTo>
                    <a:pt x="220209" y="141858"/>
                    <a:pt x="219120" y="139437"/>
                    <a:pt x="218595" y="136371"/>
                  </a:cubicBezTo>
                  <a:cubicBezTo>
                    <a:pt x="218111" y="133425"/>
                    <a:pt x="217869" y="129512"/>
                    <a:pt x="217869" y="124791"/>
                  </a:cubicBezTo>
                  <a:lnTo>
                    <a:pt x="217869" y="82871"/>
                  </a:lnTo>
                  <a:lnTo>
                    <a:pt x="240705" y="82871"/>
                  </a:lnTo>
                  <a:lnTo>
                    <a:pt x="240705" y="55880"/>
                  </a:lnTo>
                  <a:lnTo>
                    <a:pt x="217869" y="55880"/>
                  </a:lnTo>
                  <a:lnTo>
                    <a:pt x="217869" y="9239"/>
                  </a:lnTo>
                  <a:lnTo>
                    <a:pt x="186318" y="9239"/>
                  </a:lnTo>
                  <a:lnTo>
                    <a:pt x="186318" y="125033"/>
                  </a:lnTo>
                  <a:cubicBezTo>
                    <a:pt x="186318" y="134797"/>
                    <a:pt x="187166" y="143109"/>
                    <a:pt x="188860" y="149725"/>
                  </a:cubicBezTo>
                  <a:cubicBezTo>
                    <a:pt x="190514" y="156261"/>
                    <a:pt x="193339" y="161628"/>
                    <a:pt x="197252" y="165622"/>
                  </a:cubicBezTo>
                  <a:cubicBezTo>
                    <a:pt x="201166" y="169616"/>
                    <a:pt x="206370" y="172521"/>
                    <a:pt x="212664" y="174256"/>
                  </a:cubicBezTo>
                  <a:cubicBezTo>
                    <a:pt x="219039" y="175991"/>
                    <a:pt x="227149" y="176919"/>
                    <a:pt x="236751" y="176919"/>
                  </a:cubicBezTo>
                  <a:lnTo>
                    <a:pt x="240705" y="176919"/>
                  </a:lnTo>
                  <a:close/>
                  <a:moveTo>
                    <a:pt x="421536" y="0"/>
                  </a:moveTo>
                  <a:lnTo>
                    <a:pt x="389985" y="0"/>
                  </a:lnTo>
                  <a:lnTo>
                    <a:pt x="389985" y="175668"/>
                  </a:lnTo>
                  <a:lnTo>
                    <a:pt x="421536" y="175668"/>
                  </a:lnTo>
                  <a:lnTo>
                    <a:pt x="421536" y="0"/>
                  </a:lnTo>
                  <a:close/>
                  <a:moveTo>
                    <a:pt x="155857" y="67701"/>
                  </a:moveTo>
                  <a:cubicBezTo>
                    <a:pt x="147102" y="58260"/>
                    <a:pt x="134756" y="53459"/>
                    <a:pt x="119142" y="53459"/>
                  </a:cubicBezTo>
                  <a:cubicBezTo>
                    <a:pt x="111597" y="53459"/>
                    <a:pt x="104658" y="55032"/>
                    <a:pt x="98444" y="58058"/>
                  </a:cubicBezTo>
                  <a:cubicBezTo>
                    <a:pt x="92231" y="61125"/>
                    <a:pt x="86946" y="65442"/>
                    <a:pt x="82750" y="70848"/>
                  </a:cubicBezTo>
                  <a:lnTo>
                    <a:pt x="81015" y="73067"/>
                  </a:lnTo>
                  <a:lnTo>
                    <a:pt x="81015" y="71090"/>
                  </a:lnTo>
                  <a:lnTo>
                    <a:pt x="81015" y="55920"/>
                  </a:lnTo>
                  <a:lnTo>
                    <a:pt x="49948" y="55920"/>
                  </a:lnTo>
                  <a:lnTo>
                    <a:pt x="49948" y="175708"/>
                  </a:lnTo>
                  <a:lnTo>
                    <a:pt x="81297" y="175708"/>
                  </a:lnTo>
                  <a:lnTo>
                    <a:pt x="81297" y="111880"/>
                  </a:lnTo>
                  <a:lnTo>
                    <a:pt x="81338" y="116319"/>
                  </a:lnTo>
                  <a:cubicBezTo>
                    <a:pt x="81338" y="115592"/>
                    <a:pt x="81338" y="114866"/>
                    <a:pt x="81378" y="114180"/>
                  </a:cubicBezTo>
                  <a:cubicBezTo>
                    <a:pt x="81701" y="103004"/>
                    <a:pt x="84485" y="94653"/>
                    <a:pt x="89689" y="89327"/>
                  </a:cubicBezTo>
                  <a:cubicBezTo>
                    <a:pt x="95217" y="83678"/>
                    <a:pt x="101955" y="80814"/>
                    <a:pt x="109701" y="80814"/>
                  </a:cubicBezTo>
                  <a:cubicBezTo>
                    <a:pt x="118819" y="80814"/>
                    <a:pt x="125759" y="83598"/>
                    <a:pt x="130358" y="89125"/>
                  </a:cubicBezTo>
                  <a:cubicBezTo>
                    <a:pt x="134877" y="94532"/>
                    <a:pt x="137177" y="102238"/>
                    <a:pt x="137217" y="112082"/>
                  </a:cubicBezTo>
                  <a:lnTo>
                    <a:pt x="137217" y="112082"/>
                  </a:lnTo>
                  <a:lnTo>
                    <a:pt x="137217" y="112324"/>
                  </a:lnTo>
                  <a:lnTo>
                    <a:pt x="137217" y="112365"/>
                  </a:lnTo>
                  <a:lnTo>
                    <a:pt x="137217" y="175708"/>
                  </a:lnTo>
                  <a:lnTo>
                    <a:pt x="169050" y="175708"/>
                  </a:lnTo>
                  <a:lnTo>
                    <a:pt x="169050" y="107684"/>
                  </a:lnTo>
                  <a:cubicBezTo>
                    <a:pt x="169091" y="90618"/>
                    <a:pt x="164612" y="77142"/>
                    <a:pt x="155857" y="67701"/>
                  </a:cubicBezTo>
                  <a:moveTo>
                    <a:pt x="373524" y="115552"/>
                  </a:moveTo>
                  <a:cubicBezTo>
                    <a:pt x="373524" y="106958"/>
                    <a:pt x="371991" y="98808"/>
                    <a:pt x="368965" y="91344"/>
                  </a:cubicBezTo>
                  <a:cubicBezTo>
                    <a:pt x="365939" y="83880"/>
                    <a:pt x="361662" y="77223"/>
                    <a:pt x="356256" y="71574"/>
                  </a:cubicBezTo>
                  <a:cubicBezTo>
                    <a:pt x="350850" y="65926"/>
                    <a:pt x="344273" y="61448"/>
                    <a:pt x="336729" y="58300"/>
                  </a:cubicBezTo>
                  <a:cubicBezTo>
                    <a:pt x="329184" y="55113"/>
                    <a:pt x="320752" y="53499"/>
                    <a:pt x="311674" y="53499"/>
                  </a:cubicBezTo>
                  <a:cubicBezTo>
                    <a:pt x="303080" y="53499"/>
                    <a:pt x="294890" y="55153"/>
                    <a:pt x="287345" y="58422"/>
                  </a:cubicBezTo>
                  <a:cubicBezTo>
                    <a:pt x="279800" y="61690"/>
                    <a:pt x="273143" y="66168"/>
                    <a:pt x="267575" y="71736"/>
                  </a:cubicBezTo>
                  <a:cubicBezTo>
                    <a:pt x="262008" y="77304"/>
                    <a:pt x="257529" y="83961"/>
                    <a:pt x="254261" y="91506"/>
                  </a:cubicBezTo>
                  <a:cubicBezTo>
                    <a:pt x="250993" y="99050"/>
                    <a:pt x="249339" y="107241"/>
                    <a:pt x="249339" y="115834"/>
                  </a:cubicBezTo>
                  <a:cubicBezTo>
                    <a:pt x="249339" y="124428"/>
                    <a:pt x="250912" y="132619"/>
                    <a:pt x="254019" y="140163"/>
                  </a:cubicBezTo>
                  <a:cubicBezTo>
                    <a:pt x="257126" y="147708"/>
                    <a:pt x="261483" y="154365"/>
                    <a:pt x="266970" y="159933"/>
                  </a:cubicBezTo>
                  <a:cubicBezTo>
                    <a:pt x="272457" y="165501"/>
                    <a:pt x="279195" y="169979"/>
                    <a:pt x="286982" y="173247"/>
                  </a:cubicBezTo>
                  <a:cubicBezTo>
                    <a:pt x="294769" y="176515"/>
                    <a:pt x="303403" y="178170"/>
                    <a:pt x="312642" y="178170"/>
                  </a:cubicBezTo>
                  <a:cubicBezTo>
                    <a:pt x="339351" y="178170"/>
                    <a:pt x="355974" y="166025"/>
                    <a:pt x="365939" y="154648"/>
                  </a:cubicBezTo>
                  <a:lnTo>
                    <a:pt x="343224" y="137339"/>
                  </a:lnTo>
                  <a:cubicBezTo>
                    <a:pt x="338423" y="143028"/>
                    <a:pt x="327086" y="150734"/>
                    <a:pt x="312884" y="150734"/>
                  </a:cubicBezTo>
                  <a:cubicBezTo>
                    <a:pt x="303968" y="150734"/>
                    <a:pt x="296665" y="148676"/>
                    <a:pt x="291097" y="144601"/>
                  </a:cubicBezTo>
                  <a:cubicBezTo>
                    <a:pt x="285529" y="140526"/>
                    <a:pt x="281697" y="134959"/>
                    <a:pt x="279720" y="127979"/>
                  </a:cubicBezTo>
                  <a:lnTo>
                    <a:pt x="279397" y="126849"/>
                  </a:lnTo>
                  <a:lnTo>
                    <a:pt x="373524" y="126849"/>
                  </a:lnTo>
                  <a:lnTo>
                    <a:pt x="373524" y="115552"/>
                  </a:lnTo>
                  <a:close/>
                  <a:moveTo>
                    <a:pt x="279720" y="104537"/>
                  </a:moveTo>
                  <a:cubicBezTo>
                    <a:pt x="279720" y="95782"/>
                    <a:pt x="289766" y="80451"/>
                    <a:pt x="311472" y="80451"/>
                  </a:cubicBezTo>
                  <a:cubicBezTo>
                    <a:pt x="333178" y="80451"/>
                    <a:pt x="343265" y="95742"/>
                    <a:pt x="343265" y="104497"/>
                  </a:cubicBezTo>
                  <a:lnTo>
                    <a:pt x="279720" y="104537"/>
                  </a:lnTo>
                  <a:close/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7" name="Rectangle 16" descr="Intel Confidential">
            <a:extLst>
              <a:ext uri="{FF2B5EF4-FFF2-40B4-BE49-F238E27FC236}">
                <a16:creationId xmlns:a16="http://schemas.microsoft.com/office/drawing/2014/main" id="{00AB5FAB-9E8F-1593-8C50-DEC8A48AEFBC}"/>
              </a:ext>
            </a:extLst>
          </p:cNvPr>
          <p:cNvSpPr/>
          <p:nvPr userDrawn="1"/>
        </p:nvSpPr>
        <p:spPr>
          <a:xfrm>
            <a:off x="10727019" y="6480810"/>
            <a:ext cx="1213795" cy="22860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en-US" sz="900" b="0" i="0">
                <a:solidFill>
                  <a:schemeClr val="bg1">
                    <a:alpha val="75000"/>
                  </a:schemeClr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8" name="Rectangle 17" descr="Department or Event Name">
            <a:extLst>
              <a:ext uri="{FF2B5EF4-FFF2-40B4-BE49-F238E27FC236}">
                <a16:creationId xmlns:a16="http://schemas.microsoft.com/office/drawing/2014/main" id="{EC5C6972-8D25-4C26-6BC6-0B34FAA7A2DD}"/>
              </a:ext>
            </a:extLst>
          </p:cNvPr>
          <p:cNvSpPr/>
          <p:nvPr userDrawn="1"/>
        </p:nvSpPr>
        <p:spPr>
          <a:xfrm>
            <a:off x="823793" y="648081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en-US" sz="900" b="0" i="0">
                <a:solidFill>
                  <a:schemeClr val="bg1">
                    <a:alpha val="75000"/>
                  </a:schemeClr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CCG | WSG</a:t>
            </a:r>
          </a:p>
        </p:txBody>
      </p:sp>
    </p:spTree>
    <p:extLst>
      <p:ext uri="{BB962C8B-B14F-4D97-AF65-F5344CB8AC3E}">
        <p14:creationId xmlns:p14="http://schemas.microsoft.com/office/powerpoint/2010/main" val="265065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| Empty Gradient">
    <p:bg>
      <p:bgPr>
        <a:gradFill>
          <a:gsLst>
            <a:gs pos="75000">
              <a:schemeClr val="tx2"/>
            </a:gs>
            <a:gs pos="0">
              <a:schemeClr val="tx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99EC961-B1A3-8340-9EC3-B33E28D168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2000"/>
          </a:blip>
          <a:srcRect l="17005" t="4201" r="8517" b="2132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210AEA-3393-388E-5955-99BBC50512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1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8" name="Graphic 36">
            <a:extLst>
              <a:ext uri="{FF2B5EF4-FFF2-40B4-BE49-F238E27FC236}">
                <a16:creationId xmlns:a16="http://schemas.microsoft.com/office/drawing/2014/main" id="{9C9F1DB7-5B7D-6BCE-BAE2-E4171DD86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40517" y="6480810"/>
            <a:ext cx="422423" cy="178169"/>
            <a:chOff x="11131751" y="6540638"/>
            <a:chExt cx="422423" cy="178169"/>
          </a:xfrm>
          <a:solidFill>
            <a:schemeClr val="bg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509F8F9-7CA5-A94A-29A0-E5D36F5D63F2}"/>
                </a:ext>
              </a:extLst>
            </p:cNvPr>
            <p:cNvSpPr/>
            <p:nvPr/>
          </p:nvSpPr>
          <p:spPr>
            <a:xfrm>
              <a:off x="11131751" y="6543058"/>
              <a:ext cx="33285" cy="33285"/>
            </a:xfrm>
            <a:custGeom>
              <a:avLst/>
              <a:gdLst>
                <a:gd name="connsiteX0" fmla="*/ 0 w 33285"/>
                <a:gd name="connsiteY0" fmla="*/ 0 h 33285"/>
                <a:gd name="connsiteX1" fmla="*/ 33286 w 33285"/>
                <a:gd name="connsiteY1" fmla="*/ 0 h 33285"/>
                <a:gd name="connsiteX2" fmla="*/ 33286 w 33285"/>
                <a:gd name="connsiteY2" fmla="*/ 33286 h 33285"/>
                <a:gd name="connsiteX3" fmla="*/ 0 w 33285"/>
                <a:gd name="connsiteY3" fmla="*/ 33286 h 33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85" h="33285">
                  <a:moveTo>
                    <a:pt x="0" y="0"/>
                  </a:moveTo>
                  <a:lnTo>
                    <a:pt x="33286" y="0"/>
                  </a:lnTo>
                  <a:lnTo>
                    <a:pt x="33286" y="33286"/>
                  </a:lnTo>
                  <a:lnTo>
                    <a:pt x="0" y="33286"/>
                  </a:lnTo>
                  <a:close/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4D99C4D-D2AC-6B3A-8384-153467D8B433}"/>
                </a:ext>
              </a:extLst>
            </p:cNvPr>
            <p:cNvSpPr/>
            <p:nvPr/>
          </p:nvSpPr>
          <p:spPr>
            <a:xfrm>
              <a:off x="11132638" y="6540638"/>
              <a:ext cx="421536" cy="178169"/>
            </a:xfrm>
            <a:custGeom>
              <a:avLst/>
              <a:gdLst>
                <a:gd name="connsiteX0" fmla="*/ 31551 w 421536"/>
                <a:gd name="connsiteY0" fmla="*/ 55880 h 178169"/>
                <a:gd name="connsiteX1" fmla="*/ 0 w 421536"/>
                <a:gd name="connsiteY1" fmla="*/ 55880 h 178169"/>
                <a:gd name="connsiteX2" fmla="*/ 0 w 421536"/>
                <a:gd name="connsiteY2" fmla="*/ 175668 h 178169"/>
                <a:gd name="connsiteX3" fmla="*/ 31551 w 421536"/>
                <a:gd name="connsiteY3" fmla="*/ 175668 h 178169"/>
                <a:gd name="connsiteX4" fmla="*/ 31551 w 421536"/>
                <a:gd name="connsiteY4" fmla="*/ 55880 h 178169"/>
                <a:gd name="connsiteX5" fmla="*/ 240705 w 421536"/>
                <a:gd name="connsiteY5" fmla="*/ 176878 h 178169"/>
                <a:gd name="connsiteX6" fmla="*/ 240705 w 421536"/>
                <a:gd name="connsiteY6" fmla="*/ 147506 h 178169"/>
                <a:gd name="connsiteX7" fmla="*/ 229287 w 421536"/>
                <a:gd name="connsiteY7" fmla="*/ 146780 h 178169"/>
                <a:gd name="connsiteX8" fmla="*/ 221863 w 421536"/>
                <a:gd name="connsiteY8" fmla="*/ 143512 h 178169"/>
                <a:gd name="connsiteX9" fmla="*/ 218595 w 421536"/>
                <a:gd name="connsiteY9" fmla="*/ 136371 h 178169"/>
                <a:gd name="connsiteX10" fmla="*/ 217869 w 421536"/>
                <a:gd name="connsiteY10" fmla="*/ 124791 h 178169"/>
                <a:gd name="connsiteX11" fmla="*/ 217869 w 421536"/>
                <a:gd name="connsiteY11" fmla="*/ 82871 h 178169"/>
                <a:gd name="connsiteX12" fmla="*/ 240705 w 421536"/>
                <a:gd name="connsiteY12" fmla="*/ 82871 h 178169"/>
                <a:gd name="connsiteX13" fmla="*/ 240705 w 421536"/>
                <a:gd name="connsiteY13" fmla="*/ 55880 h 178169"/>
                <a:gd name="connsiteX14" fmla="*/ 217869 w 421536"/>
                <a:gd name="connsiteY14" fmla="*/ 55880 h 178169"/>
                <a:gd name="connsiteX15" fmla="*/ 217869 w 421536"/>
                <a:gd name="connsiteY15" fmla="*/ 9239 h 178169"/>
                <a:gd name="connsiteX16" fmla="*/ 186318 w 421536"/>
                <a:gd name="connsiteY16" fmla="*/ 9239 h 178169"/>
                <a:gd name="connsiteX17" fmla="*/ 186318 w 421536"/>
                <a:gd name="connsiteY17" fmla="*/ 125033 h 178169"/>
                <a:gd name="connsiteX18" fmla="*/ 188860 w 421536"/>
                <a:gd name="connsiteY18" fmla="*/ 149725 h 178169"/>
                <a:gd name="connsiteX19" fmla="*/ 197252 w 421536"/>
                <a:gd name="connsiteY19" fmla="*/ 165622 h 178169"/>
                <a:gd name="connsiteX20" fmla="*/ 212664 w 421536"/>
                <a:gd name="connsiteY20" fmla="*/ 174256 h 178169"/>
                <a:gd name="connsiteX21" fmla="*/ 236751 w 421536"/>
                <a:gd name="connsiteY21" fmla="*/ 176919 h 178169"/>
                <a:gd name="connsiteX22" fmla="*/ 240705 w 421536"/>
                <a:gd name="connsiteY22" fmla="*/ 176919 h 178169"/>
                <a:gd name="connsiteX23" fmla="*/ 421536 w 421536"/>
                <a:gd name="connsiteY23" fmla="*/ 0 h 178169"/>
                <a:gd name="connsiteX24" fmla="*/ 389985 w 421536"/>
                <a:gd name="connsiteY24" fmla="*/ 0 h 178169"/>
                <a:gd name="connsiteX25" fmla="*/ 389985 w 421536"/>
                <a:gd name="connsiteY25" fmla="*/ 175668 h 178169"/>
                <a:gd name="connsiteX26" fmla="*/ 421536 w 421536"/>
                <a:gd name="connsiteY26" fmla="*/ 175668 h 178169"/>
                <a:gd name="connsiteX27" fmla="*/ 421536 w 421536"/>
                <a:gd name="connsiteY27" fmla="*/ 0 h 178169"/>
                <a:gd name="connsiteX28" fmla="*/ 155857 w 421536"/>
                <a:gd name="connsiteY28" fmla="*/ 67701 h 178169"/>
                <a:gd name="connsiteX29" fmla="*/ 119142 w 421536"/>
                <a:gd name="connsiteY29" fmla="*/ 53459 h 178169"/>
                <a:gd name="connsiteX30" fmla="*/ 98444 w 421536"/>
                <a:gd name="connsiteY30" fmla="*/ 58058 h 178169"/>
                <a:gd name="connsiteX31" fmla="*/ 82750 w 421536"/>
                <a:gd name="connsiteY31" fmla="*/ 70848 h 178169"/>
                <a:gd name="connsiteX32" fmla="*/ 81015 w 421536"/>
                <a:gd name="connsiteY32" fmla="*/ 73067 h 178169"/>
                <a:gd name="connsiteX33" fmla="*/ 81015 w 421536"/>
                <a:gd name="connsiteY33" fmla="*/ 71090 h 178169"/>
                <a:gd name="connsiteX34" fmla="*/ 81015 w 421536"/>
                <a:gd name="connsiteY34" fmla="*/ 55920 h 178169"/>
                <a:gd name="connsiteX35" fmla="*/ 49948 w 421536"/>
                <a:gd name="connsiteY35" fmla="*/ 55920 h 178169"/>
                <a:gd name="connsiteX36" fmla="*/ 49948 w 421536"/>
                <a:gd name="connsiteY36" fmla="*/ 175708 h 178169"/>
                <a:gd name="connsiteX37" fmla="*/ 81297 w 421536"/>
                <a:gd name="connsiteY37" fmla="*/ 175708 h 178169"/>
                <a:gd name="connsiteX38" fmla="*/ 81297 w 421536"/>
                <a:gd name="connsiteY38" fmla="*/ 111880 h 178169"/>
                <a:gd name="connsiteX39" fmla="*/ 81338 w 421536"/>
                <a:gd name="connsiteY39" fmla="*/ 116319 h 178169"/>
                <a:gd name="connsiteX40" fmla="*/ 81378 w 421536"/>
                <a:gd name="connsiteY40" fmla="*/ 114180 h 178169"/>
                <a:gd name="connsiteX41" fmla="*/ 89689 w 421536"/>
                <a:gd name="connsiteY41" fmla="*/ 89327 h 178169"/>
                <a:gd name="connsiteX42" fmla="*/ 109701 w 421536"/>
                <a:gd name="connsiteY42" fmla="*/ 80814 h 178169"/>
                <a:gd name="connsiteX43" fmla="*/ 130358 w 421536"/>
                <a:gd name="connsiteY43" fmla="*/ 89125 h 178169"/>
                <a:gd name="connsiteX44" fmla="*/ 137217 w 421536"/>
                <a:gd name="connsiteY44" fmla="*/ 112082 h 178169"/>
                <a:gd name="connsiteX45" fmla="*/ 137217 w 421536"/>
                <a:gd name="connsiteY45" fmla="*/ 112082 h 178169"/>
                <a:gd name="connsiteX46" fmla="*/ 137217 w 421536"/>
                <a:gd name="connsiteY46" fmla="*/ 112324 h 178169"/>
                <a:gd name="connsiteX47" fmla="*/ 137217 w 421536"/>
                <a:gd name="connsiteY47" fmla="*/ 112365 h 178169"/>
                <a:gd name="connsiteX48" fmla="*/ 137217 w 421536"/>
                <a:gd name="connsiteY48" fmla="*/ 175708 h 178169"/>
                <a:gd name="connsiteX49" fmla="*/ 169050 w 421536"/>
                <a:gd name="connsiteY49" fmla="*/ 175708 h 178169"/>
                <a:gd name="connsiteX50" fmla="*/ 169050 w 421536"/>
                <a:gd name="connsiteY50" fmla="*/ 107684 h 178169"/>
                <a:gd name="connsiteX51" fmla="*/ 155857 w 421536"/>
                <a:gd name="connsiteY51" fmla="*/ 67701 h 178169"/>
                <a:gd name="connsiteX52" fmla="*/ 373524 w 421536"/>
                <a:gd name="connsiteY52" fmla="*/ 115552 h 178169"/>
                <a:gd name="connsiteX53" fmla="*/ 368965 w 421536"/>
                <a:gd name="connsiteY53" fmla="*/ 91344 h 178169"/>
                <a:gd name="connsiteX54" fmla="*/ 356256 w 421536"/>
                <a:gd name="connsiteY54" fmla="*/ 71574 h 178169"/>
                <a:gd name="connsiteX55" fmla="*/ 336729 w 421536"/>
                <a:gd name="connsiteY55" fmla="*/ 58300 h 178169"/>
                <a:gd name="connsiteX56" fmla="*/ 311674 w 421536"/>
                <a:gd name="connsiteY56" fmla="*/ 53499 h 178169"/>
                <a:gd name="connsiteX57" fmla="*/ 287345 w 421536"/>
                <a:gd name="connsiteY57" fmla="*/ 58422 h 178169"/>
                <a:gd name="connsiteX58" fmla="*/ 267575 w 421536"/>
                <a:gd name="connsiteY58" fmla="*/ 71736 h 178169"/>
                <a:gd name="connsiteX59" fmla="*/ 254261 w 421536"/>
                <a:gd name="connsiteY59" fmla="*/ 91506 h 178169"/>
                <a:gd name="connsiteX60" fmla="*/ 249339 w 421536"/>
                <a:gd name="connsiteY60" fmla="*/ 115834 h 178169"/>
                <a:gd name="connsiteX61" fmla="*/ 254019 w 421536"/>
                <a:gd name="connsiteY61" fmla="*/ 140163 h 178169"/>
                <a:gd name="connsiteX62" fmla="*/ 266970 w 421536"/>
                <a:gd name="connsiteY62" fmla="*/ 159933 h 178169"/>
                <a:gd name="connsiteX63" fmla="*/ 286982 w 421536"/>
                <a:gd name="connsiteY63" fmla="*/ 173247 h 178169"/>
                <a:gd name="connsiteX64" fmla="*/ 312642 w 421536"/>
                <a:gd name="connsiteY64" fmla="*/ 178170 h 178169"/>
                <a:gd name="connsiteX65" fmla="*/ 365939 w 421536"/>
                <a:gd name="connsiteY65" fmla="*/ 154648 h 178169"/>
                <a:gd name="connsiteX66" fmla="*/ 343224 w 421536"/>
                <a:gd name="connsiteY66" fmla="*/ 137339 h 178169"/>
                <a:gd name="connsiteX67" fmla="*/ 312884 w 421536"/>
                <a:gd name="connsiteY67" fmla="*/ 150734 h 178169"/>
                <a:gd name="connsiteX68" fmla="*/ 291097 w 421536"/>
                <a:gd name="connsiteY68" fmla="*/ 144601 h 178169"/>
                <a:gd name="connsiteX69" fmla="*/ 279720 w 421536"/>
                <a:gd name="connsiteY69" fmla="*/ 127979 h 178169"/>
                <a:gd name="connsiteX70" fmla="*/ 279397 w 421536"/>
                <a:gd name="connsiteY70" fmla="*/ 126849 h 178169"/>
                <a:gd name="connsiteX71" fmla="*/ 373524 w 421536"/>
                <a:gd name="connsiteY71" fmla="*/ 126849 h 178169"/>
                <a:gd name="connsiteX72" fmla="*/ 373524 w 421536"/>
                <a:gd name="connsiteY72" fmla="*/ 115552 h 178169"/>
                <a:gd name="connsiteX73" fmla="*/ 279720 w 421536"/>
                <a:gd name="connsiteY73" fmla="*/ 104537 h 178169"/>
                <a:gd name="connsiteX74" fmla="*/ 311472 w 421536"/>
                <a:gd name="connsiteY74" fmla="*/ 80451 h 178169"/>
                <a:gd name="connsiteX75" fmla="*/ 343265 w 421536"/>
                <a:gd name="connsiteY75" fmla="*/ 104497 h 178169"/>
                <a:gd name="connsiteX76" fmla="*/ 279720 w 421536"/>
                <a:gd name="connsiteY76" fmla="*/ 104537 h 178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21536" h="178169">
                  <a:moveTo>
                    <a:pt x="31551" y="55880"/>
                  </a:moveTo>
                  <a:lnTo>
                    <a:pt x="0" y="55880"/>
                  </a:lnTo>
                  <a:lnTo>
                    <a:pt x="0" y="175668"/>
                  </a:lnTo>
                  <a:lnTo>
                    <a:pt x="31551" y="175668"/>
                  </a:lnTo>
                  <a:lnTo>
                    <a:pt x="31551" y="55880"/>
                  </a:lnTo>
                  <a:close/>
                  <a:moveTo>
                    <a:pt x="240705" y="176878"/>
                  </a:moveTo>
                  <a:lnTo>
                    <a:pt x="240705" y="147506"/>
                  </a:lnTo>
                  <a:cubicBezTo>
                    <a:pt x="236065" y="147466"/>
                    <a:pt x="232232" y="147224"/>
                    <a:pt x="229287" y="146780"/>
                  </a:cubicBezTo>
                  <a:cubicBezTo>
                    <a:pt x="226019" y="146256"/>
                    <a:pt x="223517" y="145166"/>
                    <a:pt x="221863" y="143512"/>
                  </a:cubicBezTo>
                  <a:cubicBezTo>
                    <a:pt x="220209" y="141858"/>
                    <a:pt x="219120" y="139437"/>
                    <a:pt x="218595" y="136371"/>
                  </a:cubicBezTo>
                  <a:cubicBezTo>
                    <a:pt x="218111" y="133425"/>
                    <a:pt x="217869" y="129512"/>
                    <a:pt x="217869" y="124791"/>
                  </a:cubicBezTo>
                  <a:lnTo>
                    <a:pt x="217869" y="82871"/>
                  </a:lnTo>
                  <a:lnTo>
                    <a:pt x="240705" y="82871"/>
                  </a:lnTo>
                  <a:lnTo>
                    <a:pt x="240705" y="55880"/>
                  </a:lnTo>
                  <a:lnTo>
                    <a:pt x="217869" y="55880"/>
                  </a:lnTo>
                  <a:lnTo>
                    <a:pt x="217869" y="9239"/>
                  </a:lnTo>
                  <a:lnTo>
                    <a:pt x="186318" y="9239"/>
                  </a:lnTo>
                  <a:lnTo>
                    <a:pt x="186318" y="125033"/>
                  </a:lnTo>
                  <a:cubicBezTo>
                    <a:pt x="186318" y="134797"/>
                    <a:pt x="187166" y="143109"/>
                    <a:pt x="188860" y="149725"/>
                  </a:cubicBezTo>
                  <a:cubicBezTo>
                    <a:pt x="190514" y="156261"/>
                    <a:pt x="193339" y="161628"/>
                    <a:pt x="197252" y="165622"/>
                  </a:cubicBezTo>
                  <a:cubicBezTo>
                    <a:pt x="201166" y="169616"/>
                    <a:pt x="206370" y="172521"/>
                    <a:pt x="212664" y="174256"/>
                  </a:cubicBezTo>
                  <a:cubicBezTo>
                    <a:pt x="219039" y="175991"/>
                    <a:pt x="227149" y="176919"/>
                    <a:pt x="236751" y="176919"/>
                  </a:cubicBezTo>
                  <a:lnTo>
                    <a:pt x="240705" y="176919"/>
                  </a:lnTo>
                  <a:close/>
                  <a:moveTo>
                    <a:pt x="421536" y="0"/>
                  </a:moveTo>
                  <a:lnTo>
                    <a:pt x="389985" y="0"/>
                  </a:lnTo>
                  <a:lnTo>
                    <a:pt x="389985" y="175668"/>
                  </a:lnTo>
                  <a:lnTo>
                    <a:pt x="421536" y="175668"/>
                  </a:lnTo>
                  <a:lnTo>
                    <a:pt x="421536" y="0"/>
                  </a:lnTo>
                  <a:close/>
                  <a:moveTo>
                    <a:pt x="155857" y="67701"/>
                  </a:moveTo>
                  <a:cubicBezTo>
                    <a:pt x="147102" y="58260"/>
                    <a:pt x="134756" y="53459"/>
                    <a:pt x="119142" y="53459"/>
                  </a:cubicBezTo>
                  <a:cubicBezTo>
                    <a:pt x="111597" y="53459"/>
                    <a:pt x="104658" y="55032"/>
                    <a:pt x="98444" y="58058"/>
                  </a:cubicBezTo>
                  <a:cubicBezTo>
                    <a:pt x="92231" y="61125"/>
                    <a:pt x="86946" y="65442"/>
                    <a:pt x="82750" y="70848"/>
                  </a:cubicBezTo>
                  <a:lnTo>
                    <a:pt x="81015" y="73067"/>
                  </a:lnTo>
                  <a:lnTo>
                    <a:pt x="81015" y="71090"/>
                  </a:lnTo>
                  <a:lnTo>
                    <a:pt x="81015" y="55920"/>
                  </a:lnTo>
                  <a:lnTo>
                    <a:pt x="49948" y="55920"/>
                  </a:lnTo>
                  <a:lnTo>
                    <a:pt x="49948" y="175708"/>
                  </a:lnTo>
                  <a:lnTo>
                    <a:pt x="81297" y="175708"/>
                  </a:lnTo>
                  <a:lnTo>
                    <a:pt x="81297" y="111880"/>
                  </a:lnTo>
                  <a:lnTo>
                    <a:pt x="81338" y="116319"/>
                  </a:lnTo>
                  <a:cubicBezTo>
                    <a:pt x="81338" y="115592"/>
                    <a:pt x="81338" y="114866"/>
                    <a:pt x="81378" y="114180"/>
                  </a:cubicBezTo>
                  <a:cubicBezTo>
                    <a:pt x="81701" y="103004"/>
                    <a:pt x="84485" y="94653"/>
                    <a:pt x="89689" y="89327"/>
                  </a:cubicBezTo>
                  <a:cubicBezTo>
                    <a:pt x="95217" y="83678"/>
                    <a:pt x="101955" y="80814"/>
                    <a:pt x="109701" y="80814"/>
                  </a:cubicBezTo>
                  <a:cubicBezTo>
                    <a:pt x="118819" y="80814"/>
                    <a:pt x="125759" y="83598"/>
                    <a:pt x="130358" y="89125"/>
                  </a:cubicBezTo>
                  <a:cubicBezTo>
                    <a:pt x="134877" y="94532"/>
                    <a:pt x="137177" y="102238"/>
                    <a:pt x="137217" y="112082"/>
                  </a:cubicBezTo>
                  <a:lnTo>
                    <a:pt x="137217" y="112082"/>
                  </a:lnTo>
                  <a:lnTo>
                    <a:pt x="137217" y="112324"/>
                  </a:lnTo>
                  <a:lnTo>
                    <a:pt x="137217" y="112365"/>
                  </a:lnTo>
                  <a:lnTo>
                    <a:pt x="137217" y="175708"/>
                  </a:lnTo>
                  <a:lnTo>
                    <a:pt x="169050" y="175708"/>
                  </a:lnTo>
                  <a:lnTo>
                    <a:pt x="169050" y="107684"/>
                  </a:lnTo>
                  <a:cubicBezTo>
                    <a:pt x="169091" y="90618"/>
                    <a:pt x="164612" y="77142"/>
                    <a:pt x="155857" y="67701"/>
                  </a:cubicBezTo>
                  <a:moveTo>
                    <a:pt x="373524" y="115552"/>
                  </a:moveTo>
                  <a:cubicBezTo>
                    <a:pt x="373524" y="106958"/>
                    <a:pt x="371991" y="98808"/>
                    <a:pt x="368965" y="91344"/>
                  </a:cubicBezTo>
                  <a:cubicBezTo>
                    <a:pt x="365939" y="83880"/>
                    <a:pt x="361662" y="77223"/>
                    <a:pt x="356256" y="71574"/>
                  </a:cubicBezTo>
                  <a:cubicBezTo>
                    <a:pt x="350850" y="65926"/>
                    <a:pt x="344273" y="61448"/>
                    <a:pt x="336729" y="58300"/>
                  </a:cubicBezTo>
                  <a:cubicBezTo>
                    <a:pt x="329184" y="55113"/>
                    <a:pt x="320752" y="53499"/>
                    <a:pt x="311674" y="53499"/>
                  </a:cubicBezTo>
                  <a:cubicBezTo>
                    <a:pt x="303080" y="53499"/>
                    <a:pt x="294890" y="55153"/>
                    <a:pt x="287345" y="58422"/>
                  </a:cubicBezTo>
                  <a:cubicBezTo>
                    <a:pt x="279800" y="61690"/>
                    <a:pt x="273143" y="66168"/>
                    <a:pt x="267575" y="71736"/>
                  </a:cubicBezTo>
                  <a:cubicBezTo>
                    <a:pt x="262008" y="77304"/>
                    <a:pt x="257529" y="83961"/>
                    <a:pt x="254261" y="91506"/>
                  </a:cubicBezTo>
                  <a:cubicBezTo>
                    <a:pt x="250993" y="99050"/>
                    <a:pt x="249339" y="107241"/>
                    <a:pt x="249339" y="115834"/>
                  </a:cubicBezTo>
                  <a:cubicBezTo>
                    <a:pt x="249339" y="124428"/>
                    <a:pt x="250912" y="132619"/>
                    <a:pt x="254019" y="140163"/>
                  </a:cubicBezTo>
                  <a:cubicBezTo>
                    <a:pt x="257126" y="147708"/>
                    <a:pt x="261483" y="154365"/>
                    <a:pt x="266970" y="159933"/>
                  </a:cubicBezTo>
                  <a:cubicBezTo>
                    <a:pt x="272457" y="165501"/>
                    <a:pt x="279195" y="169979"/>
                    <a:pt x="286982" y="173247"/>
                  </a:cubicBezTo>
                  <a:cubicBezTo>
                    <a:pt x="294769" y="176515"/>
                    <a:pt x="303403" y="178170"/>
                    <a:pt x="312642" y="178170"/>
                  </a:cubicBezTo>
                  <a:cubicBezTo>
                    <a:pt x="339351" y="178170"/>
                    <a:pt x="355974" y="166025"/>
                    <a:pt x="365939" y="154648"/>
                  </a:cubicBezTo>
                  <a:lnTo>
                    <a:pt x="343224" y="137339"/>
                  </a:lnTo>
                  <a:cubicBezTo>
                    <a:pt x="338423" y="143028"/>
                    <a:pt x="327086" y="150734"/>
                    <a:pt x="312884" y="150734"/>
                  </a:cubicBezTo>
                  <a:cubicBezTo>
                    <a:pt x="303968" y="150734"/>
                    <a:pt x="296665" y="148676"/>
                    <a:pt x="291097" y="144601"/>
                  </a:cubicBezTo>
                  <a:cubicBezTo>
                    <a:pt x="285529" y="140526"/>
                    <a:pt x="281697" y="134959"/>
                    <a:pt x="279720" y="127979"/>
                  </a:cubicBezTo>
                  <a:lnTo>
                    <a:pt x="279397" y="126849"/>
                  </a:lnTo>
                  <a:lnTo>
                    <a:pt x="373524" y="126849"/>
                  </a:lnTo>
                  <a:lnTo>
                    <a:pt x="373524" y="115552"/>
                  </a:lnTo>
                  <a:close/>
                  <a:moveTo>
                    <a:pt x="279720" y="104537"/>
                  </a:moveTo>
                  <a:cubicBezTo>
                    <a:pt x="279720" y="95782"/>
                    <a:pt x="289766" y="80451"/>
                    <a:pt x="311472" y="80451"/>
                  </a:cubicBezTo>
                  <a:cubicBezTo>
                    <a:pt x="333178" y="80451"/>
                    <a:pt x="343265" y="95742"/>
                    <a:pt x="343265" y="104497"/>
                  </a:cubicBezTo>
                  <a:lnTo>
                    <a:pt x="279720" y="104537"/>
                  </a:lnTo>
                  <a:close/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1" name="Rectangle 10" descr="Intel Confidential">
            <a:extLst>
              <a:ext uri="{FF2B5EF4-FFF2-40B4-BE49-F238E27FC236}">
                <a16:creationId xmlns:a16="http://schemas.microsoft.com/office/drawing/2014/main" id="{B9B4C433-35C2-5933-FAF9-CA94BBAE3488}"/>
              </a:ext>
            </a:extLst>
          </p:cNvPr>
          <p:cNvSpPr/>
          <p:nvPr userDrawn="1"/>
        </p:nvSpPr>
        <p:spPr>
          <a:xfrm>
            <a:off x="10727019" y="6480810"/>
            <a:ext cx="1213795" cy="22860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en-US" sz="900" b="0" i="0">
                <a:solidFill>
                  <a:schemeClr val="bg1">
                    <a:alpha val="75000"/>
                  </a:schemeClr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2" name="Rectangle 11" descr="Department or Event Name">
            <a:extLst>
              <a:ext uri="{FF2B5EF4-FFF2-40B4-BE49-F238E27FC236}">
                <a16:creationId xmlns:a16="http://schemas.microsoft.com/office/drawing/2014/main" id="{4F8A4CEA-F363-A1A8-BBFA-0A870A3BB4CC}"/>
              </a:ext>
            </a:extLst>
          </p:cNvPr>
          <p:cNvSpPr/>
          <p:nvPr userDrawn="1"/>
        </p:nvSpPr>
        <p:spPr>
          <a:xfrm>
            <a:off x="823793" y="648081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en-US" sz="900" b="0" i="0">
                <a:solidFill>
                  <a:schemeClr val="bg1">
                    <a:alpha val="75000"/>
                  </a:schemeClr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CCG | WSG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B8EEFCD-6F22-B71B-6952-69A9BCDF4A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0281" y="486603"/>
            <a:ext cx="5151438" cy="179319"/>
          </a:xfrm>
        </p:spPr>
        <p:txBody>
          <a:bodyPr/>
          <a:lstStyle>
            <a:lvl1pPr marL="0" algn="ctr" defTabSz="914400" rtl="0" eaLnBrk="1" latinLnBrk="0" hangingPunct="1">
              <a:defRPr lang="en-US" sz="1400" kern="1200" spc="300" dirty="0" smtClean="0">
                <a:gradFill>
                  <a:gsLst>
                    <a:gs pos="0">
                      <a:srgbClr val="A2F6E9">
                        <a:lumMod val="25000"/>
                        <a:lumOff val="75000"/>
                      </a:srgbClr>
                    </a:gs>
                    <a:gs pos="97000">
                      <a:srgbClr val="A2F6E9"/>
                    </a:gs>
                  </a:gsLst>
                  <a:lin ang="5400000" scaled="0"/>
                </a:gradFill>
                <a:latin typeface="IntelOne Display Ligh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3E8B545-597E-DDF3-8007-837938B7E3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22445" y="809625"/>
            <a:ext cx="7547112" cy="492402"/>
          </a:xfrm>
        </p:spPr>
        <p:txBody>
          <a:bodyPr/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lang="en-US" sz="3600" kern="1200" dirty="0" smtClean="0">
                <a:gradFill>
                  <a:gsLst>
                    <a:gs pos="0">
                      <a:srgbClr val="A2F6E9">
                        <a:lumMod val="25000"/>
                        <a:lumOff val="75000"/>
                      </a:srgbClr>
                    </a:gs>
                    <a:gs pos="97000">
                      <a:srgbClr val="A2F6E9"/>
                    </a:gs>
                  </a:gsLst>
                  <a:lin ang="5400000" scaled="0"/>
                </a:gradFill>
                <a:latin typeface="IntelOne Display Ligh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lang="ru-RU" sz="3600" kern="1200" dirty="0">
                <a:gradFill>
                  <a:gsLst>
                    <a:gs pos="0">
                      <a:srgbClr val="A2F6E9">
                        <a:lumMod val="25000"/>
                        <a:lumOff val="75000"/>
                      </a:srgbClr>
                    </a:gs>
                    <a:gs pos="97000">
                      <a:srgbClr val="A2F6E9"/>
                    </a:gs>
                  </a:gsLst>
                  <a:lin ang="5400000" scaled="0"/>
                </a:gradFill>
                <a:latin typeface="IntelOne Display Light"/>
                <a:ea typeface="+mj-ea"/>
                <a:cs typeface="+mj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51B29EC-EBC5-A0DC-2B7E-A7403C6436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19625" y="1615107"/>
            <a:ext cx="2952750" cy="2211457"/>
          </a:xfrm>
          <a:solidFill>
            <a:srgbClr val="081520"/>
          </a:solidFill>
        </p:spPr>
        <p:txBody>
          <a:bodyPr/>
          <a:lstStyle/>
          <a:p>
            <a:endParaRPr lang="ru-RU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C577FC7E-A5F9-D49E-87F2-B0E5E0DC26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19625" y="3966126"/>
            <a:ext cx="2952750" cy="2211457"/>
          </a:xfrm>
          <a:solidFill>
            <a:srgbClr val="081520"/>
          </a:solidFill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428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| Logo">
    <p:bg>
      <p:bgPr>
        <a:gradFill>
          <a:gsLst>
            <a:gs pos="75000">
              <a:schemeClr val="tx2">
                <a:alpha val="99000"/>
              </a:schemeClr>
            </a:gs>
            <a:gs pos="0">
              <a:schemeClr val="tx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green gradient&#10;&#10;Description automatically generated">
            <a:extLst>
              <a:ext uri="{FF2B5EF4-FFF2-40B4-BE49-F238E27FC236}">
                <a16:creationId xmlns:a16="http://schemas.microsoft.com/office/drawing/2014/main" id="{DB36B1D5-BBD9-EE95-5EA3-970407B368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1237" cy="6857571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06BD990-8DAE-DF35-7FCE-4F9BF52BA1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037" y="2749691"/>
            <a:ext cx="3349097" cy="135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38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997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9132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280D76-07EB-7445-0F67-C3352A1E0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21985"/>
            <a:ext cx="10668000" cy="38767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3F483-CBB1-E3F3-D193-62C9A97E2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579563"/>
            <a:ext cx="10668000" cy="46942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15" name="Rectangle 14" descr="Intel Confidential">
            <a:extLst>
              <a:ext uri="{FF2B5EF4-FFF2-40B4-BE49-F238E27FC236}">
                <a16:creationId xmlns:a16="http://schemas.microsoft.com/office/drawing/2014/main" id="{76401EF4-4A9F-A12A-94B2-B1A3BEEDE000}"/>
              </a:ext>
            </a:extLst>
          </p:cNvPr>
          <p:cNvSpPr/>
          <p:nvPr userDrawn="1"/>
        </p:nvSpPr>
        <p:spPr>
          <a:xfrm>
            <a:off x="10727019" y="6480810"/>
            <a:ext cx="1213795" cy="22860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en-US" sz="900" b="0" i="0">
                <a:solidFill>
                  <a:schemeClr val="bg1">
                    <a:alpha val="75000"/>
                  </a:schemeClr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6" name="Rectangle 15" descr="Department or Event Name">
            <a:extLst>
              <a:ext uri="{FF2B5EF4-FFF2-40B4-BE49-F238E27FC236}">
                <a16:creationId xmlns:a16="http://schemas.microsoft.com/office/drawing/2014/main" id="{04984AD7-4E2F-5FB2-EE11-32164E978DA1}"/>
              </a:ext>
            </a:extLst>
          </p:cNvPr>
          <p:cNvSpPr/>
          <p:nvPr userDrawn="1"/>
        </p:nvSpPr>
        <p:spPr>
          <a:xfrm>
            <a:off x="823793" y="648081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en-US" sz="900" b="0" i="0">
                <a:solidFill>
                  <a:schemeClr val="bg1">
                    <a:alpha val="75000"/>
                  </a:schemeClr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CCG | WSG</a:t>
            </a:r>
          </a:p>
        </p:txBody>
      </p:sp>
      <p:grpSp>
        <p:nvGrpSpPr>
          <p:cNvPr id="17" name="Graphic 36">
            <a:extLst>
              <a:ext uri="{FF2B5EF4-FFF2-40B4-BE49-F238E27FC236}">
                <a16:creationId xmlns:a16="http://schemas.microsoft.com/office/drawing/2014/main" id="{BB292152-C8BE-CE9D-32E3-F4D4BE85D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40517" y="6480810"/>
            <a:ext cx="422423" cy="178169"/>
            <a:chOff x="11131751" y="6540638"/>
            <a:chExt cx="422423" cy="178169"/>
          </a:xfrm>
          <a:solidFill>
            <a:schemeClr val="bg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6E90CB7-23C8-E571-E2AA-D955431B715F}"/>
                </a:ext>
              </a:extLst>
            </p:cNvPr>
            <p:cNvSpPr/>
            <p:nvPr/>
          </p:nvSpPr>
          <p:spPr>
            <a:xfrm>
              <a:off x="11131751" y="6543058"/>
              <a:ext cx="33285" cy="33285"/>
            </a:xfrm>
            <a:custGeom>
              <a:avLst/>
              <a:gdLst>
                <a:gd name="connsiteX0" fmla="*/ 0 w 33285"/>
                <a:gd name="connsiteY0" fmla="*/ 0 h 33285"/>
                <a:gd name="connsiteX1" fmla="*/ 33286 w 33285"/>
                <a:gd name="connsiteY1" fmla="*/ 0 h 33285"/>
                <a:gd name="connsiteX2" fmla="*/ 33286 w 33285"/>
                <a:gd name="connsiteY2" fmla="*/ 33286 h 33285"/>
                <a:gd name="connsiteX3" fmla="*/ 0 w 33285"/>
                <a:gd name="connsiteY3" fmla="*/ 33286 h 33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85" h="33285">
                  <a:moveTo>
                    <a:pt x="0" y="0"/>
                  </a:moveTo>
                  <a:lnTo>
                    <a:pt x="33286" y="0"/>
                  </a:lnTo>
                  <a:lnTo>
                    <a:pt x="33286" y="33286"/>
                  </a:lnTo>
                  <a:lnTo>
                    <a:pt x="0" y="33286"/>
                  </a:lnTo>
                  <a:close/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9A1A62B-EDED-0DDF-15A6-7F4DA53EDCA3}"/>
                </a:ext>
              </a:extLst>
            </p:cNvPr>
            <p:cNvSpPr/>
            <p:nvPr/>
          </p:nvSpPr>
          <p:spPr>
            <a:xfrm>
              <a:off x="11132638" y="6540638"/>
              <a:ext cx="421536" cy="178169"/>
            </a:xfrm>
            <a:custGeom>
              <a:avLst/>
              <a:gdLst>
                <a:gd name="connsiteX0" fmla="*/ 31551 w 421536"/>
                <a:gd name="connsiteY0" fmla="*/ 55880 h 178169"/>
                <a:gd name="connsiteX1" fmla="*/ 0 w 421536"/>
                <a:gd name="connsiteY1" fmla="*/ 55880 h 178169"/>
                <a:gd name="connsiteX2" fmla="*/ 0 w 421536"/>
                <a:gd name="connsiteY2" fmla="*/ 175668 h 178169"/>
                <a:gd name="connsiteX3" fmla="*/ 31551 w 421536"/>
                <a:gd name="connsiteY3" fmla="*/ 175668 h 178169"/>
                <a:gd name="connsiteX4" fmla="*/ 31551 w 421536"/>
                <a:gd name="connsiteY4" fmla="*/ 55880 h 178169"/>
                <a:gd name="connsiteX5" fmla="*/ 240705 w 421536"/>
                <a:gd name="connsiteY5" fmla="*/ 176878 h 178169"/>
                <a:gd name="connsiteX6" fmla="*/ 240705 w 421536"/>
                <a:gd name="connsiteY6" fmla="*/ 147506 h 178169"/>
                <a:gd name="connsiteX7" fmla="*/ 229287 w 421536"/>
                <a:gd name="connsiteY7" fmla="*/ 146780 h 178169"/>
                <a:gd name="connsiteX8" fmla="*/ 221863 w 421536"/>
                <a:gd name="connsiteY8" fmla="*/ 143512 h 178169"/>
                <a:gd name="connsiteX9" fmla="*/ 218595 w 421536"/>
                <a:gd name="connsiteY9" fmla="*/ 136371 h 178169"/>
                <a:gd name="connsiteX10" fmla="*/ 217869 w 421536"/>
                <a:gd name="connsiteY10" fmla="*/ 124791 h 178169"/>
                <a:gd name="connsiteX11" fmla="*/ 217869 w 421536"/>
                <a:gd name="connsiteY11" fmla="*/ 82871 h 178169"/>
                <a:gd name="connsiteX12" fmla="*/ 240705 w 421536"/>
                <a:gd name="connsiteY12" fmla="*/ 82871 h 178169"/>
                <a:gd name="connsiteX13" fmla="*/ 240705 w 421536"/>
                <a:gd name="connsiteY13" fmla="*/ 55880 h 178169"/>
                <a:gd name="connsiteX14" fmla="*/ 217869 w 421536"/>
                <a:gd name="connsiteY14" fmla="*/ 55880 h 178169"/>
                <a:gd name="connsiteX15" fmla="*/ 217869 w 421536"/>
                <a:gd name="connsiteY15" fmla="*/ 9239 h 178169"/>
                <a:gd name="connsiteX16" fmla="*/ 186318 w 421536"/>
                <a:gd name="connsiteY16" fmla="*/ 9239 h 178169"/>
                <a:gd name="connsiteX17" fmla="*/ 186318 w 421536"/>
                <a:gd name="connsiteY17" fmla="*/ 125033 h 178169"/>
                <a:gd name="connsiteX18" fmla="*/ 188860 w 421536"/>
                <a:gd name="connsiteY18" fmla="*/ 149725 h 178169"/>
                <a:gd name="connsiteX19" fmla="*/ 197252 w 421536"/>
                <a:gd name="connsiteY19" fmla="*/ 165622 h 178169"/>
                <a:gd name="connsiteX20" fmla="*/ 212664 w 421536"/>
                <a:gd name="connsiteY20" fmla="*/ 174256 h 178169"/>
                <a:gd name="connsiteX21" fmla="*/ 236751 w 421536"/>
                <a:gd name="connsiteY21" fmla="*/ 176919 h 178169"/>
                <a:gd name="connsiteX22" fmla="*/ 240705 w 421536"/>
                <a:gd name="connsiteY22" fmla="*/ 176919 h 178169"/>
                <a:gd name="connsiteX23" fmla="*/ 421536 w 421536"/>
                <a:gd name="connsiteY23" fmla="*/ 0 h 178169"/>
                <a:gd name="connsiteX24" fmla="*/ 389985 w 421536"/>
                <a:gd name="connsiteY24" fmla="*/ 0 h 178169"/>
                <a:gd name="connsiteX25" fmla="*/ 389985 w 421536"/>
                <a:gd name="connsiteY25" fmla="*/ 175668 h 178169"/>
                <a:gd name="connsiteX26" fmla="*/ 421536 w 421536"/>
                <a:gd name="connsiteY26" fmla="*/ 175668 h 178169"/>
                <a:gd name="connsiteX27" fmla="*/ 421536 w 421536"/>
                <a:gd name="connsiteY27" fmla="*/ 0 h 178169"/>
                <a:gd name="connsiteX28" fmla="*/ 155857 w 421536"/>
                <a:gd name="connsiteY28" fmla="*/ 67701 h 178169"/>
                <a:gd name="connsiteX29" fmla="*/ 119142 w 421536"/>
                <a:gd name="connsiteY29" fmla="*/ 53459 h 178169"/>
                <a:gd name="connsiteX30" fmla="*/ 98444 w 421536"/>
                <a:gd name="connsiteY30" fmla="*/ 58058 h 178169"/>
                <a:gd name="connsiteX31" fmla="*/ 82750 w 421536"/>
                <a:gd name="connsiteY31" fmla="*/ 70848 h 178169"/>
                <a:gd name="connsiteX32" fmla="*/ 81015 w 421536"/>
                <a:gd name="connsiteY32" fmla="*/ 73067 h 178169"/>
                <a:gd name="connsiteX33" fmla="*/ 81015 w 421536"/>
                <a:gd name="connsiteY33" fmla="*/ 71090 h 178169"/>
                <a:gd name="connsiteX34" fmla="*/ 81015 w 421536"/>
                <a:gd name="connsiteY34" fmla="*/ 55920 h 178169"/>
                <a:gd name="connsiteX35" fmla="*/ 49948 w 421536"/>
                <a:gd name="connsiteY35" fmla="*/ 55920 h 178169"/>
                <a:gd name="connsiteX36" fmla="*/ 49948 w 421536"/>
                <a:gd name="connsiteY36" fmla="*/ 175708 h 178169"/>
                <a:gd name="connsiteX37" fmla="*/ 81297 w 421536"/>
                <a:gd name="connsiteY37" fmla="*/ 175708 h 178169"/>
                <a:gd name="connsiteX38" fmla="*/ 81297 w 421536"/>
                <a:gd name="connsiteY38" fmla="*/ 111880 h 178169"/>
                <a:gd name="connsiteX39" fmla="*/ 81338 w 421536"/>
                <a:gd name="connsiteY39" fmla="*/ 116319 h 178169"/>
                <a:gd name="connsiteX40" fmla="*/ 81378 w 421536"/>
                <a:gd name="connsiteY40" fmla="*/ 114180 h 178169"/>
                <a:gd name="connsiteX41" fmla="*/ 89689 w 421536"/>
                <a:gd name="connsiteY41" fmla="*/ 89327 h 178169"/>
                <a:gd name="connsiteX42" fmla="*/ 109701 w 421536"/>
                <a:gd name="connsiteY42" fmla="*/ 80814 h 178169"/>
                <a:gd name="connsiteX43" fmla="*/ 130358 w 421536"/>
                <a:gd name="connsiteY43" fmla="*/ 89125 h 178169"/>
                <a:gd name="connsiteX44" fmla="*/ 137217 w 421536"/>
                <a:gd name="connsiteY44" fmla="*/ 112082 h 178169"/>
                <a:gd name="connsiteX45" fmla="*/ 137217 w 421536"/>
                <a:gd name="connsiteY45" fmla="*/ 112082 h 178169"/>
                <a:gd name="connsiteX46" fmla="*/ 137217 w 421536"/>
                <a:gd name="connsiteY46" fmla="*/ 112324 h 178169"/>
                <a:gd name="connsiteX47" fmla="*/ 137217 w 421536"/>
                <a:gd name="connsiteY47" fmla="*/ 112365 h 178169"/>
                <a:gd name="connsiteX48" fmla="*/ 137217 w 421536"/>
                <a:gd name="connsiteY48" fmla="*/ 175708 h 178169"/>
                <a:gd name="connsiteX49" fmla="*/ 169050 w 421536"/>
                <a:gd name="connsiteY49" fmla="*/ 175708 h 178169"/>
                <a:gd name="connsiteX50" fmla="*/ 169050 w 421536"/>
                <a:gd name="connsiteY50" fmla="*/ 107684 h 178169"/>
                <a:gd name="connsiteX51" fmla="*/ 155857 w 421536"/>
                <a:gd name="connsiteY51" fmla="*/ 67701 h 178169"/>
                <a:gd name="connsiteX52" fmla="*/ 373524 w 421536"/>
                <a:gd name="connsiteY52" fmla="*/ 115552 h 178169"/>
                <a:gd name="connsiteX53" fmla="*/ 368965 w 421536"/>
                <a:gd name="connsiteY53" fmla="*/ 91344 h 178169"/>
                <a:gd name="connsiteX54" fmla="*/ 356256 w 421536"/>
                <a:gd name="connsiteY54" fmla="*/ 71574 h 178169"/>
                <a:gd name="connsiteX55" fmla="*/ 336729 w 421536"/>
                <a:gd name="connsiteY55" fmla="*/ 58300 h 178169"/>
                <a:gd name="connsiteX56" fmla="*/ 311674 w 421536"/>
                <a:gd name="connsiteY56" fmla="*/ 53499 h 178169"/>
                <a:gd name="connsiteX57" fmla="*/ 287345 w 421536"/>
                <a:gd name="connsiteY57" fmla="*/ 58422 h 178169"/>
                <a:gd name="connsiteX58" fmla="*/ 267575 w 421536"/>
                <a:gd name="connsiteY58" fmla="*/ 71736 h 178169"/>
                <a:gd name="connsiteX59" fmla="*/ 254261 w 421536"/>
                <a:gd name="connsiteY59" fmla="*/ 91506 h 178169"/>
                <a:gd name="connsiteX60" fmla="*/ 249339 w 421536"/>
                <a:gd name="connsiteY60" fmla="*/ 115834 h 178169"/>
                <a:gd name="connsiteX61" fmla="*/ 254019 w 421536"/>
                <a:gd name="connsiteY61" fmla="*/ 140163 h 178169"/>
                <a:gd name="connsiteX62" fmla="*/ 266970 w 421536"/>
                <a:gd name="connsiteY62" fmla="*/ 159933 h 178169"/>
                <a:gd name="connsiteX63" fmla="*/ 286982 w 421536"/>
                <a:gd name="connsiteY63" fmla="*/ 173247 h 178169"/>
                <a:gd name="connsiteX64" fmla="*/ 312642 w 421536"/>
                <a:gd name="connsiteY64" fmla="*/ 178170 h 178169"/>
                <a:gd name="connsiteX65" fmla="*/ 365939 w 421536"/>
                <a:gd name="connsiteY65" fmla="*/ 154648 h 178169"/>
                <a:gd name="connsiteX66" fmla="*/ 343224 w 421536"/>
                <a:gd name="connsiteY66" fmla="*/ 137339 h 178169"/>
                <a:gd name="connsiteX67" fmla="*/ 312884 w 421536"/>
                <a:gd name="connsiteY67" fmla="*/ 150734 h 178169"/>
                <a:gd name="connsiteX68" fmla="*/ 291097 w 421536"/>
                <a:gd name="connsiteY68" fmla="*/ 144601 h 178169"/>
                <a:gd name="connsiteX69" fmla="*/ 279720 w 421536"/>
                <a:gd name="connsiteY69" fmla="*/ 127979 h 178169"/>
                <a:gd name="connsiteX70" fmla="*/ 279397 w 421536"/>
                <a:gd name="connsiteY70" fmla="*/ 126849 h 178169"/>
                <a:gd name="connsiteX71" fmla="*/ 373524 w 421536"/>
                <a:gd name="connsiteY71" fmla="*/ 126849 h 178169"/>
                <a:gd name="connsiteX72" fmla="*/ 373524 w 421536"/>
                <a:gd name="connsiteY72" fmla="*/ 115552 h 178169"/>
                <a:gd name="connsiteX73" fmla="*/ 279720 w 421536"/>
                <a:gd name="connsiteY73" fmla="*/ 104537 h 178169"/>
                <a:gd name="connsiteX74" fmla="*/ 311472 w 421536"/>
                <a:gd name="connsiteY74" fmla="*/ 80451 h 178169"/>
                <a:gd name="connsiteX75" fmla="*/ 343265 w 421536"/>
                <a:gd name="connsiteY75" fmla="*/ 104497 h 178169"/>
                <a:gd name="connsiteX76" fmla="*/ 279720 w 421536"/>
                <a:gd name="connsiteY76" fmla="*/ 104537 h 178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21536" h="178169">
                  <a:moveTo>
                    <a:pt x="31551" y="55880"/>
                  </a:moveTo>
                  <a:lnTo>
                    <a:pt x="0" y="55880"/>
                  </a:lnTo>
                  <a:lnTo>
                    <a:pt x="0" y="175668"/>
                  </a:lnTo>
                  <a:lnTo>
                    <a:pt x="31551" y="175668"/>
                  </a:lnTo>
                  <a:lnTo>
                    <a:pt x="31551" y="55880"/>
                  </a:lnTo>
                  <a:close/>
                  <a:moveTo>
                    <a:pt x="240705" y="176878"/>
                  </a:moveTo>
                  <a:lnTo>
                    <a:pt x="240705" y="147506"/>
                  </a:lnTo>
                  <a:cubicBezTo>
                    <a:pt x="236065" y="147466"/>
                    <a:pt x="232232" y="147224"/>
                    <a:pt x="229287" y="146780"/>
                  </a:cubicBezTo>
                  <a:cubicBezTo>
                    <a:pt x="226019" y="146256"/>
                    <a:pt x="223517" y="145166"/>
                    <a:pt x="221863" y="143512"/>
                  </a:cubicBezTo>
                  <a:cubicBezTo>
                    <a:pt x="220209" y="141858"/>
                    <a:pt x="219120" y="139437"/>
                    <a:pt x="218595" y="136371"/>
                  </a:cubicBezTo>
                  <a:cubicBezTo>
                    <a:pt x="218111" y="133425"/>
                    <a:pt x="217869" y="129512"/>
                    <a:pt x="217869" y="124791"/>
                  </a:cubicBezTo>
                  <a:lnTo>
                    <a:pt x="217869" y="82871"/>
                  </a:lnTo>
                  <a:lnTo>
                    <a:pt x="240705" y="82871"/>
                  </a:lnTo>
                  <a:lnTo>
                    <a:pt x="240705" y="55880"/>
                  </a:lnTo>
                  <a:lnTo>
                    <a:pt x="217869" y="55880"/>
                  </a:lnTo>
                  <a:lnTo>
                    <a:pt x="217869" y="9239"/>
                  </a:lnTo>
                  <a:lnTo>
                    <a:pt x="186318" y="9239"/>
                  </a:lnTo>
                  <a:lnTo>
                    <a:pt x="186318" y="125033"/>
                  </a:lnTo>
                  <a:cubicBezTo>
                    <a:pt x="186318" y="134797"/>
                    <a:pt x="187166" y="143109"/>
                    <a:pt x="188860" y="149725"/>
                  </a:cubicBezTo>
                  <a:cubicBezTo>
                    <a:pt x="190514" y="156261"/>
                    <a:pt x="193339" y="161628"/>
                    <a:pt x="197252" y="165622"/>
                  </a:cubicBezTo>
                  <a:cubicBezTo>
                    <a:pt x="201166" y="169616"/>
                    <a:pt x="206370" y="172521"/>
                    <a:pt x="212664" y="174256"/>
                  </a:cubicBezTo>
                  <a:cubicBezTo>
                    <a:pt x="219039" y="175991"/>
                    <a:pt x="227149" y="176919"/>
                    <a:pt x="236751" y="176919"/>
                  </a:cubicBezTo>
                  <a:lnTo>
                    <a:pt x="240705" y="176919"/>
                  </a:lnTo>
                  <a:close/>
                  <a:moveTo>
                    <a:pt x="421536" y="0"/>
                  </a:moveTo>
                  <a:lnTo>
                    <a:pt x="389985" y="0"/>
                  </a:lnTo>
                  <a:lnTo>
                    <a:pt x="389985" y="175668"/>
                  </a:lnTo>
                  <a:lnTo>
                    <a:pt x="421536" y="175668"/>
                  </a:lnTo>
                  <a:lnTo>
                    <a:pt x="421536" y="0"/>
                  </a:lnTo>
                  <a:close/>
                  <a:moveTo>
                    <a:pt x="155857" y="67701"/>
                  </a:moveTo>
                  <a:cubicBezTo>
                    <a:pt x="147102" y="58260"/>
                    <a:pt x="134756" y="53459"/>
                    <a:pt x="119142" y="53459"/>
                  </a:cubicBezTo>
                  <a:cubicBezTo>
                    <a:pt x="111597" y="53459"/>
                    <a:pt x="104658" y="55032"/>
                    <a:pt x="98444" y="58058"/>
                  </a:cubicBezTo>
                  <a:cubicBezTo>
                    <a:pt x="92231" y="61125"/>
                    <a:pt x="86946" y="65442"/>
                    <a:pt x="82750" y="70848"/>
                  </a:cubicBezTo>
                  <a:lnTo>
                    <a:pt x="81015" y="73067"/>
                  </a:lnTo>
                  <a:lnTo>
                    <a:pt x="81015" y="71090"/>
                  </a:lnTo>
                  <a:lnTo>
                    <a:pt x="81015" y="55920"/>
                  </a:lnTo>
                  <a:lnTo>
                    <a:pt x="49948" y="55920"/>
                  </a:lnTo>
                  <a:lnTo>
                    <a:pt x="49948" y="175708"/>
                  </a:lnTo>
                  <a:lnTo>
                    <a:pt x="81297" y="175708"/>
                  </a:lnTo>
                  <a:lnTo>
                    <a:pt x="81297" y="111880"/>
                  </a:lnTo>
                  <a:lnTo>
                    <a:pt x="81338" y="116319"/>
                  </a:lnTo>
                  <a:cubicBezTo>
                    <a:pt x="81338" y="115592"/>
                    <a:pt x="81338" y="114866"/>
                    <a:pt x="81378" y="114180"/>
                  </a:cubicBezTo>
                  <a:cubicBezTo>
                    <a:pt x="81701" y="103004"/>
                    <a:pt x="84485" y="94653"/>
                    <a:pt x="89689" y="89327"/>
                  </a:cubicBezTo>
                  <a:cubicBezTo>
                    <a:pt x="95217" y="83678"/>
                    <a:pt x="101955" y="80814"/>
                    <a:pt x="109701" y="80814"/>
                  </a:cubicBezTo>
                  <a:cubicBezTo>
                    <a:pt x="118819" y="80814"/>
                    <a:pt x="125759" y="83598"/>
                    <a:pt x="130358" y="89125"/>
                  </a:cubicBezTo>
                  <a:cubicBezTo>
                    <a:pt x="134877" y="94532"/>
                    <a:pt x="137177" y="102238"/>
                    <a:pt x="137217" y="112082"/>
                  </a:cubicBezTo>
                  <a:lnTo>
                    <a:pt x="137217" y="112082"/>
                  </a:lnTo>
                  <a:lnTo>
                    <a:pt x="137217" y="112324"/>
                  </a:lnTo>
                  <a:lnTo>
                    <a:pt x="137217" y="112365"/>
                  </a:lnTo>
                  <a:lnTo>
                    <a:pt x="137217" y="175708"/>
                  </a:lnTo>
                  <a:lnTo>
                    <a:pt x="169050" y="175708"/>
                  </a:lnTo>
                  <a:lnTo>
                    <a:pt x="169050" y="107684"/>
                  </a:lnTo>
                  <a:cubicBezTo>
                    <a:pt x="169091" y="90618"/>
                    <a:pt x="164612" y="77142"/>
                    <a:pt x="155857" y="67701"/>
                  </a:cubicBezTo>
                  <a:moveTo>
                    <a:pt x="373524" y="115552"/>
                  </a:moveTo>
                  <a:cubicBezTo>
                    <a:pt x="373524" y="106958"/>
                    <a:pt x="371991" y="98808"/>
                    <a:pt x="368965" y="91344"/>
                  </a:cubicBezTo>
                  <a:cubicBezTo>
                    <a:pt x="365939" y="83880"/>
                    <a:pt x="361662" y="77223"/>
                    <a:pt x="356256" y="71574"/>
                  </a:cubicBezTo>
                  <a:cubicBezTo>
                    <a:pt x="350850" y="65926"/>
                    <a:pt x="344273" y="61448"/>
                    <a:pt x="336729" y="58300"/>
                  </a:cubicBezTo>
                  <a:cubicBezTo>
                    <a:pt x="329184" y="55113"/>
                    <a:pt x="320752" y="53499"/>
                    <a:pt x="311674" y="53499"/>
                  </a:cubicBezTo>
                  <a:cubicBezTo>
                    <a:pt x="303080" y="53499"/>
                    <a:pt x="294890" y="55153"/>
                    <a:pt x="287345" y="58422"/>
                  </a:cubicBezTo>
                  <a:cubicBezTo>
                    <a:pt x="279800" y="61690"/>
                    <a:pt x="273143" y="66168"/>
                    <a:pt x="267575" y="71736"/>
                  </a:cubicBezTo>
                  <a:cubicBezTo>
                    <a:pt x="262008" y="77304"/>
                    <a:pt x="257529" y="83961"/>
                    <a:pt x="254261" y="91506"/>
                  </a:cubicBezTo>
                  <a:cubicBezTo>
                    <a:pt x="250993" y="99050"/>
                    <a:pt x="249339" y="107241"/>
                    <a:pt x="249339" y="115834"/>
                  </a:cubicBezTo>
                  <a:cubicBezTo>
                    <a:pt x="249339" y="124428"/>
                    <a:pt x="250912" y="132619"/>
                    <a:pt x="254019" y="140163"/>
                  </a:cubicBezTo>
                  <a:cubicBezTo>
                    <a:pt x="257126" y="147708"/>
                    <a:pt x="261483" y="154365"/>
                    <a:pt x="266970" y="159933"/>
                  </a:cubicBezTo>
                  <a:cubicBezTo>
                    <a:pt x="272457" y="165501"/>
                    <a:pt x="279195" y="169979"/>
                    <a:pt x="286982" y="173247"/>
                  </a:cubicBezTo>
                  <a:cubicBezTo>
                    <a:pt x="294769" y="176515"/>
                    <a:pt x="303403" y="178170"/>
                    <a:pt x="312642" y="178170"/>
                  </a:cubicBezTo>
                  <a:cubicBezTo>
                    <a:pt x="339351" y="178170"/>
                    <a:pt x="355974" y="166025"/>
                    <a:pt x="365939" y="154648"/>
                  </a:cubicBezTo>
                  <a:lnTo>
                    <a:pt x="343224" y="137339"/>
                  </a:lnTo>
                  <a:cubicBezTo>
                    <a:pt x="338423" y="143028"/>
                    <a:pt x="327086" y="150734"/>
                    <a:pt x="312884" y="150734"/>
                  </a:cubicBezTo>
                  <a:cubicBezTo>
                    <a:pt x="303968" y="150734"/>
                    <a:pt x="296665" y="148676"/>
                    <a:pt x="291097" y="144601"/>
                  </a:cubicBezTo>
                  <a:cubicBezTo>
                    <a:pt x="285529" y="140526"/>
                    <a:pt x="281697" y="134959"/>
                    <a:pt x="279720" y="127979"/>
                  </a:cubicBezTo>
                  <a:lnTo>
                    <a:pt x="279397" y="126849"/>
                  </a:lnTo>
                  <a:lnTo>
                    <a:pt x="373524" y="126849"/>
                  </a:lnTo>
                  <a:lnTo>
                    <a:pt x="373524" y="115552"/>
                  </a:lnTo>
                  <a:close/>
                  <a:moveTo>
                    <a:pt x="279720" y="104537"/>
                  </a:moveTo>
                  <a:cubicBezTo>
                    <a:pt x="279720" y="95782"/>
                    <a:pt x="289766" y="80451"/>
                    <a:pt x="311472" y="80451"/>
                  </a:cubicBezTo>
                  <a:cubicBezTo>
                    <a:pt x="333178" y="80451"/>
                    <a:pt x="343265" y="95742"/>
                    <a:pt x="343265" y="104497"/>
                  </a:cubicBezTo>
                  <a:lnTo>
                    <a:pt x="279720" y="104537"/>
                  </a:lnTo>
                  <a:close/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3142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+mn-lt"/>
          <a:ea typeface="+mn-ea"/>
          <a:cs typeface="+mn-cs"/>
        </a:defRPr>
      </a:lvl1pPr>
      <a:lvl2pPr marL="355600" indent="-177800" algn="l" defTabSz="914400" rtl="0" eaLnBrk="1" latinLnBrk="0" hangingPunct="1">
        <a:lnSpc>
          <a:spcPct val="90000"/>
        </a:lnSpc>
        <a:spcBef>
          <a:spcPts val="600"/>
        </a:spcBef>
        <a:buFont typeface="Wingdings" pitchFamily="2" charset="2"/>
        <a:buChar char="§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534988" indent="-179388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System Font Regular"/>
        <a:buChar char="-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4763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200" kern="1200">
          <a:solidFill>
            <a:schemeClr val="bg1">
              <a:alpha val="50000"/>
            </a:schemeClr>
          </a:solidFill>
          <a:latin typeface="+mn-lt"/>
          <a:ea typeface="+mn-ea"/>
          <a:cs typeface="+mn-cs"/>
        </a:defRPr>
      </a:lvl4pPr>
      <a:lvl5pPr marL="4763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600" b="0" i="0" kern="1200">
          <a:solidFill>
            <a:schemeClr val="bg1"/>
          </a:solidFill>
          <a:latin typeface="IntelOne Text Medium" panose="020B0503020203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480">
          <p15:clr>
            <a:srgbClr val="F26B43"/>
          </p15:clr>
        </p15:guide>
        <p15:guide id="4" pos="240">
          <p15:clr>
            <a:srgbClr val="F26B43"/>
          </p15:clr>
        </p15:guide>
        <p15:guide id="5" pos="7200">
          <p15:clr>
            <a:srgbClr val="F26B43"/>
          </p15:clr>
        </p15:guide>
        <p15:guide id="6" pos="7440">
          <p15:clr>
            <a:srgbClr val="F26B43"/>
          </p15:clr>
        </p15:guide>
        <p15:guide id="7" orient="horz" pos="3952">
          <p15:clr>
            <a:srgbClr val="F26B43"/>
          </p15:clr>
        </p15:guide>
        <p15:guide id="8" orient="horz" pos="4079">
          <p15:clr>
            <a:srgbClr val="F26B43"/>
          </p15:clr>
        </p15:guide>
        <p15:guide id="10" orient="horz" pos="480">
          <p15:clr>
            <a:srgbClr val="F26B43"/>
          </p15:clr>
        </p15:guide>
        <p15:guide id="11" orient="horz" pos="745">
          <p15:clr>
            <a:srgbClr val="F26B43"/>
          </p15:clr>
        </p15:guide>
        <p15:guide id="12" orient="horz" pos="995">
          <p15:clr>
            <a:srgbClr val="F26B43"/>
          </p15:clr>
        </p15:guide>
        <p15:guide id="13" orient="horz" pos="367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503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307526-0A3E-BBBF-07C3-501974892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921" y="2989501"/>
            <a:ext cx="10668000" cy="387678"/>
          </a:xfrm>
        </p:spPr>
        <p:txBody>
          <a:bodyPr/>
          <a:lstStyle/>
          <a:p>
            <a:r>
              <a:rPr lang="en-US" sz="4000"/>
              <a:t>AI debug new structure : AI agent Skill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47BEC0-E20B-2943-AA5F-0E75FE828A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9921" y="3674660"/>
            <a:ext cx="10668000" cy="223837"/>
          </a:xfrm>
        </p:spPr>
        <p:txBody>
          <a:bodyPr/>
          <a:lstStyle/>
          <a:p>
            <a:r>
              <a:rPr lang="en-US"/>
              <a:t>Feb 5, 2026</a:t>
            </a:r>
          </a:p>
        </p:txBody>
      </p:sp>
    </p:spTree>
    <p:extLst>
      <p:ext uri="{BB962C8B-B14F-4D97-AF65-F5344CB8AC3E}">
        <p14:creationId xmlns:p14="http://schemas.microsoft.com/office/powerpoint/2010/main" val="238447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84453-EA31-639F-DE91-138272CF4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Previous method of AI debug triage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B79A4-8A9C-CB29-DD6A-4450896E8754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Chatbot allow user to query the timing of log  -- but mostly AI cannot answer it  right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Problem</a:t>
            </a:r>
            <a:r>
              <a:rPr lang="en-US" sz="1800"/>
              <a:t> 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/>
              <a:t>AI don’t’ know what is correct flow,  how to identify issue ?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/>
              <a:t>prompt manually generated , too targeted to certain issue. Can only used once .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/>
              <a:t>Current filter is  static ,  but in order to identify issue , actually we need to expand the filter in runtime to check for more Info – For example , we open CNCT first  , then we need Platform , or LAR even more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How to solve it </a:t>
            </a:r>
            <a:r>
              <a:rPr lang="en-US" sz="1800"/>
              <a:t>. 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 sz="1800" b="1"/>
              <a:t>Smarter</a:t>
            </a:r>
            <a:r>
              <a:rPr lang="en-US"/>
              <a:t> - &gt; Use Skill  - Let AI decide how to solve it 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 sz="1800" b="1"/>
              <a:t>Dynamic Target </a:t>
            </a:r>
            <a:r>
              <a:rPr lang="en-US"/>
              <a:t>-&gt;Filter selection shall not be static – AI shall be able to iterative add filter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 sz="1800" b="1"/>
              <a:t>Focus </a:t>
            </a:r>
            <a:r>
              <a:rPr lang="en-US"/>
              <a:t>-&gt; The right log shall be trimmed , remove timestamp , MAC address etc. AI used this to generate new prompt , or template</a:t>
            </a:r>
          </a:p>
        </p:txBody>
      </p:sp>
    </p:spTree>
    <p:extLst>
      <p:ext uri="{BB962C8B-B14F-4D97-AF65-F5344CB8AC3E}">
        <p14:creationId xmlns:p14="http://schemas.microsoft.com/office/powerpoint/2010/main" val="175050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99B1AC-C7A8-F934-E77A-825502F7A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E231804-E476-67DE-D37A-CD6BA428EE7B}"/>
              </a:ext>
            </a:extLst>
          </p:cNvPr>
          <p:cNvSpPr/>
          <p:nvPr/>
        </p:nvSpPr>
        <p:spPr>
          <a:xfrm>
            <a:off x="812800" y="2644974"/>
            <a:ext cx="5130800" cy="2186781"/>
          </a:xfrm>
          <a:prstGeom prst="roundRect">
            <a:avLst>
              <a:gd name="adj" fmla="val 13380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6DA6DB-E57E-0C7B-7B7B-43D6A2728723}"/>
              </a:ext>
            </a:extLst>
          </p:cNvPr>
          <p:cNvSpPr/>
          <p:nvPr/>
        </p:nvSpPr>
        <p:spPr>
          <a:xfrm>
            <a:off x="6248400" y="2644974"/>
            <a:ext cx="5130800" cy="2186781"/>
          </a:xfrm>
          <a:prstGeom prst="roundRect">
            <a:avLst>
              <a:gd name="adj" fmla="val 13380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53B517A-0F9F-1FCF-EB13-CA60C4FB5DC8}"/>
              </a:ext>
            </a:extLst>
          </p:cNvPr>
          <p:cNvSpPr/>
          <p:nvPr/>
        </p:nvSpPr>
        <p:spPr>
          <a:xfrm>
            <a:off x="812800" y="5136556"/>
            <a:ext cx="10566400" cy="904081"/>
          </a:xfrm>
          <a:prstGeom prst="roundRect">
            <a:avLst>
              <a:gd name="adj" fmla="val 323652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3896100-9203-8F07-CEC0-C5930240E318}"/>
              </a:ext>
            </a:extLst>
          </p:cNvPr>
          <p:cNvSpPr/>
          <p:nvPr/>
        </p:nvSpPr>
        <p:spPr>
          <a:xfrm>
            <a:off x="812800" y="1425773"/>
            <a:ext cx="10777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is an AI agent skill?</a:t>
            </a: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09AB5FA-87A9-5FA6-2B7E-9459E4B9F7A7}"/>
              </a:ext>
            </a:extLst>
          </p:cNvPr>
          <p:cNvSpPr/>
          <p:nvPr/>
        </p:nvSpPr>
        <p:spPr>
          <a:xfrm>
            <a:off x="1087041" y="2919215"/>
            <a:ext cx="458231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325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prompt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is a one-time instruction for the model.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E8A2D24-945B-EFEE-AB08-7CBB6DF3DA9D}"/>
              </a:ext>
            </a:extLst>
          </p:cNvPr>
          <p:cNvSpPr/>
          <p:nvPr/>
        </p:nvSpPr>
        <p:spPr>
          <a:xfrm>
            <a:off x="1087040" y="3947915"/>
            <a:ext cx="46739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9FB0C8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tells the model what to do right now.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8074427-F259-ED52-C7E1-427BB3B162BE}"/>
              </a:ext>
            </a:extLst>
          </p:cNvPr>
          <p:cNvSpPr/>
          <p:nvPr/>
        </p:nvSpPr>
        <p:spPr>
          <a:xfrm>
            <a:off x="6522641" y="2919215"/>
            <a:ext cx="458231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325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skill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is a reusable package for a specific task.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F61B091-140D-0B4F-4427-86FFCD8F393B}"/>
              </a:ext>
            </a:extLst>
          </p:cNvPr>
          <p:cNvSpPr/>
          <p:nvPr/>
        </p:nvSpPr>
        <p:spPr>
          <a:xfrm>
            <a:off x="6522641" y="3947915"/>
            <a:ext cx="458231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9FB0C8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can include instructions, rules, examples, and tools.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C0AB2B5-6908-91FA-8E7F-A9578547F03A}"/>
              </a:ext>
            </a:extLst>
          </p:cNvPr>
          <p:cNvSpPr/>
          <p:nvPr/>
        </p:nvSpPr>
        <p:spPr>
          <a:xfrm>
            <a:off x="1087040" y="5410795"/>
            <a:ext cx="1021827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Simple idea: a prompt is a request, but a skill is a repeatable way of working.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3845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3EBF4-C385-497B-9B15-A5270A087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DCE01E1-C5CA-DAD6-F212-E8700B38E9F6}"/>
              </a:ext>
            </a:extLst>
          </p:cNvPr>
          <p:cNvSpPr/>
          <p:nvPr/>
        </p:nvSpPr>
        <p:spPr>
          <a:xfrm>
            <a:off x="803870" y="1052315"/>
            <a:ext cx="4216400" cy="3748881"/>
          </a:xfrm>
          <a:prstGeom prst="roundRect">
            <a:avLst>
              <a:gd name="adj" fmla="val 78052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D3E646-4D7B-DA36-D579-216116EA6FD5}"/>
              </a:ext>
            </a:extLst>
          </p:cNvPr>
          <p:cNvSpPr/>
          <p:nvPr/>
        </p:nvSpPr>
        <p:spPr>
          <a:xfrm>
            <a:off x="6836450" y="846148"/>
            <a:ext cx="4216400" cy="3748881"/>
          </a:xfrm>
          <a:prstGeom prst="roundRect">
            <a:avLst>
              <a:gd name="adj" fmla="val 78052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A291E8C-0F4D-F465-4F50-4362A278F051}"/>
              </a:ext>
            </a:extLst>
          </p:cNvPr>
          <p:cNvSpPr/>
          <p:nvPr/>
        </p:nvSpPr>
        <p:spPr>
          <a:xfrm>
            <a:off x="859536" y="217498"/>
            <a:ext cx="10777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Prompt vs Skill</a:t>
            </a: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9176554-CFCD-694D-A382-C3867CA5F06E}"/>
              </a:ext>
            </a:extLst>
          </p:cNvPr>
          <p:cNvSpPr/>
          <p:nvPr/>
        </p:nvSpPr>
        <p:spPr>
          <a:xfrm>
            <a:off x="1078110" y="1326555"/>
            <a:ext cx="374127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Prompt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A595937-82BD-30B2-2323-DD7B97F9FBF4}"/>
              </a:ext>
            </a:extLst>
          </p:cNvPr>
          <p:cNvSpPr/>
          <p:nvPr/>
        </p:nvSpPr>
        <p:spPr>
          <a:xfrm>
            <a:off x="1078111" y="1936155"/>
            <a:ext cx="3667919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Usually short and direct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Solves one request at a time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Easy to write, easy to forget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Quality depends on each wording</a:t>
            </a:r>
          </a:p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 : Tell a beginner what to do , step by step</a:t>
            </a:r>
          </a:p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53983FF-7E35-8FB7-0846-F69B3F41114F}"/>
              </a:ext>
            </a:extLst>
          </p:cNvPr>
          <p:cNvSpPr/>
          <p:nvPr/>
        </p:nvSpPr>
        <p:spPr>
          <a:xfrm>
            <a:off x="5151120" y="2539405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1219170" rtl="0" eaLnBrk="1" fontAlgn="auto" latinLnBrk="0" hangingPunct="1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VS</a:t>
            </a: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327D4C2-BA74-C269-2576-101D5061397C}"/>
              </a:ext>
            </a:extLst>
          </p:cNvPr>
          <p:cNvSpPr/>
          <p:nvPr/>
        </p:nvSpPr>
        <p:spPr>
          <a:xfrm>
            <a:off x="7110690" y="1120388"/>
            <a:ext cx="374127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Skill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467C611-FC45-D781-CC47-F8CE4437B683}"/>
              </a:ext>
            </a:extLst>
          </p:cNvPr>
          <p:cNvSpPr/>
          <p:nvPr/>
        </p:nvSpPr>
        <p:spPr>
          <a:xfrm>
            <a:off x="7110691" y="1729988"/>
            <a:ext cx="3667919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Structured for repeated use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Solves one class of tasks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 include steps and constraints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More stable and easier to scale</a:t>
            </a:r>
          </a:p>
          <a:p>
            <a:pPr marL="457189" marR="0" lvl="0" indent="-457189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lang="en-US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</a:rPr>
              <a:t>Example: </a:t>
            </a:r>
            <a:r>
              <a:rPr lang="en-US" altLang="zh-TW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</a:rPr>
              <a:t>Filled in all knowledge , let Experience RD decide how to solve the problem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AutoShape 2" descr=" (由 AI 生成)">
            <a:extLst>
              <a:ext uri="{FF2B5EF4-FFF2-40B4-BE49-F238E27FC236}">
                <a16:creationId xmlns:a16="http://schemas.microsoft.com/office/drawing/2014/main" id="{B4378D00-7347-60FF-0537-8FB8A06A8D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ACAF72-0931-8EB0-10A9-8F6A4BE66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776" y="4193715"/>
            <a:ext cx="2212736" cy="24483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B85007-DF9B-60B2-81D9-522043E9F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673" y="4193715"/>
            <a:ext cx="2793309" cy="244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D8544E-8125-8914-EE4E-FAEBCF124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1B7D6E5-8965-9E0F-4535-FF538F75DB21}"/>
              </a:ext>
            </a:extLst>
          </p:cNvPr>
          <p:cNvSpPr/>
          <p:nvPr/>
        </p:nvSpPr>
        <p:spPr>
          <a:xfrm>
            <a:off x="553237" y="2011165"/>
            <a:ext cx="3318867" cy="2580481"/>
          </a:xfrm>
          <a:prstGeom prst="roundRect">
            <a:avLst>
              <a:gd name="adj" fmla="val 113393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FF84D44-F097-D1A7-EFF1-FB85E074FD78}"/>
              </a:ext>
            </a:extLst>
          </p:cNvPr>
          <p:cNvSpPr/>
          <p:nvPr/>
        </p:nvSpPr>
        <p:spPr>
          <a:xfrm>
            <a:off x="4176904" y="2011165"/>
            <a:ext cx="3318867" cy="2580481"/>
          </a:xfrm>
          <a:prstGeom prst="roundRect">
            <a:avLst>
              <a:gd name="adj" fmla="val 113393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2F97339-90D9-92A5-EE10-94F3C5611E2C}"/>
              </a:ext>
            </a:extLst>
          </p:cNvPr>
          <p:cNvSpPr/>
          <p:nvPr/>
        </p:nvSpPr>
        <p:spPr>
          <a:xfrm>
            <a:off x="7800573" y="2011165"/>
            <a:ext cx="3319065" cy="2580481"/>
          </a:xfrm>
          <a:prstGeom prst="roundRect">
            <a:avLst>
              <a:gd name="adj" fmla="val 113393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DDDA82A-A05D-C4EA-9365-03CAF3772C55}"/>
              </a:ext>
            </a:extLst>
          </p:cNvPr>
          <p:cNvSpPr/>
          <p:nvPr/>
        </p:nvSpPr>
        <p:spPr>
          <a:xfrm>
            <a:off x="812800" y="588764"/>
            <a:ext cx="10777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is inside a skill?</a:t>
            </a: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C2693D5-977C-9606-E4BE-CB23EE167E2C}"/>
              </a:ext>
            </a:extLst>
          </p:cNvPr>
          <p:cNvSpPr/>
          <p:nvPr/>
        </p:nvSpPr>
        <p:spPr>
          <a:xfrm>
            <a:off x="827478" y="2285405"/>
            <a:ext cx="282579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📝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0C63A5F-E5AB-0E55-FBF3-32C8E1916C7F}"/>
              </a:ext>
            </a:extLst>
          </p:cNvPr>
          <p:cNvSpPr/>
          <p:nvPr/>
        </p:nvSpPr>
        <p:spPr>
          <a:xfrm>
            <a:off x="827478" y="2945805"/>
            <a:ext cx="282579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Instructions &amp; Description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11CB2A4-2AB2-5641-D088-60A416E3F8DD}"/>
              </a:ext>
            </a:extLst>
          </p:cNvPr>
          <p:cNvSpPr/>
          <p:nvPr/>
        </p:nvSpPr>
        <p:spPr>
          <a:xfrm>
            <a:off x="827478" y="3403005"/>
            <a:ext cx="277038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this </a:t>
            </a:r>
            <a:r>
              <a:rPr lang="en-US" sz="160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Skill ,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to do</a:t>
            </a:r>
            <a:r>
              <a:rPr lang="en-US" sz="160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&amp; Avoid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and what output to return.</a:t>
            </a:r>
          </a:p>
          <a:p>
            <a:pPr marL="0" marR="0" lvl="0" indent="0" algn="l" defTabSz="121917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5EF131B-D2BC-2D7E-D89F-7BE5C3EEF867}"/>
              </a:ext>
            </a:extLst>
          </p:cNvPr>
          <p:cNvSpPr/>
          <p:nvPr/>
        </p:nvSpPr>
        <p:spPr>
          <a:xfrm>
            <a:off x="4451146" y="2285405"/>
            <a:ext cx="282579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🧭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A391450-76A8-29D1-6DB9-749863A30379}"/>
              </a:ext>
            </a:extLst>
          </p:cNvPr>
          <p:cNvSpPr/>
          <p:nvPr/>
        </p:nvSpPr>
        <p:spPr>
          <a:xfrm>
            <a:off x="4451146" y="2945805"/>
            <a:ext cx="282579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Rules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D6CD5F5-C516-684E-9785-F4369BB53EA8}"/>
              </a:ext>
            </a:extLst>
          </p:cNvPr>
          <p:cNvSpPr/>
          <p:nvPr/>
        </p:nvSpPr>
        <p:spPr>
          <a:xfrm>
            <a:off x="4451146" y="3403005"/>
            <a:ext cx="277038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logic, constraints, and quality checks for the task.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71E7B8B-2170-90D9-838E-16333384FD31}"/>
              </a:ext>
            </a:extLst>
          </p:cNvPr>
          <p:cNvSpPr/>
          <p:nvPr/>
        </p:nvSpPr>
        <p:spPr>
          <a:xfrm>
            <a:off x="8074812" y="2285405"/>
            <a:ext cx="282599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🧰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56E6CD0-8A59-A36A-E717-938A8F074FE0}"/>
              </a:ext>
            </a:extLst>
          </p:cNvPr>
          <p:cNvSpPr/>
          <p:nvPr/>
        </p:nvSpPr>
        <p:spPr>
          <a:xfrm>
            <a:off x="8074812" y="2945805"/>
            <a:ext cx="282599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Resources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2B81836-8177-B348-1A5B-9C4845D3E714}"/>
              </a:ext>
            </a:extLst>
          </p:cNvPr>
          <p:cNvSpPr/>
          <p:nvPr/>
        </p:nvSpPr>
        <p:spPr>
          <a:xfrm>
            <a:off x="8074812" y="3403005"/>
            <a:ext cx="2770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Examples, references, scripts, or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tools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used by the agent.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620F6A03-2285-9340-1630-65C9D60EB7F3}"/>
              </a:ext>
            </a:extLst>
          </p:cNvPr>
          <p:cNvSpPr/>
          <p:nvPr/>
        </p:nvSpPr>
        <p:spPr>
          <a:xfrm>
            <a:off x="1564432" y="4688086"/>
            <a:ext cx="282579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</a:rPr>
              <a:t>The Menu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40A10ED5-FE39-A68F-DCEC-A7DD074E2D44}"/>
              </a:ext>
            </a:extLst>
          </p:cNvPr>
          <p:cNvSpPr/>
          <p:nvPr/>
        </p:nvSpPr>
        <p:spPr>
          <a:xfrm>
            <a:off x="5249019" y="4703366"/>
            <a:ext cx="282579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</a:rPr>
              <a:t>The Recipe 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4C958CDF-F06E-0748-FEB8-295D655578CA}"/>
              </a:ext>
            </a:extLst>
          </p:cNvPr>
          <p:cNvSpPr/>
          <p:nvPr/>
        </p:nvSpPr>
        <p:spPr>
          <a:xfrm>
            <a:off x="8764735" y="4703366"/>
            <a:ext cx="282579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</a:rPr>
              <a:t>The Ingredients 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0771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56D021-A2C0-1B59-7439-760ED85B0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E841FCF-9CE7-4E34-DE42-9B8415A59875}"/>
              </a:ext>
            </a:extLst>
          </p:cNvPr>
          <p:cNvSpPr/>
          <p:nvPr/>
        </p:nvSpPr>
        <p:spPr>
          <a:xfrm>
            <a:off x="628650" y="1685132"/>
            <a:ext cx="10566400" cy="2163564"/>
          </a:xfrm>
          <a:prstGeom prst="roundRect">
            <a:avLst>
              <a:gd name="adj" fmla="val 135244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CE60F9-FFC0-E13F-3C9E-432B0570137C}"/>
              </a:ext>
            </a:extLst>
          </p:cNvPr>
          <p:cNvSpPr/>
          <p:nvPr/>
        </p:nvSpPr>
        <p:spPr>
          <a:xfrm>
            <a:off x="902891" y="1959372"/>
            <a:ext cx="2689820" cy="726281"/>
          </a:xfrm>
          <a:prstGeom prst="roundRect">
            <a:avLst>
              <a:gd name="adj" fmla="val 30216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203200" tIns="203200" rIns="203200" bIns="203200" rtlCol="0" anchor="t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 asks for a task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0A36CB-2195-6F9D-0208-170D7398E1B4}"/>
              </a:ext>
            </a:extLst>
          </p:cNvPr>
          <p:cNvSpPr/>
          <p:nvPr/>
        </p:nvSpPr>
        <p:spPr>
          <a:xfrm>
            <a:off x="4421307" y="1921329"/>
            <a:ext cx="4254165" cy="851692"/>
          </a:xfrm>
          <a:prstGeom prst="roundRect">
            <a:avLst>
              <a:gd name="adj" fmla="val 30216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203200" tIns="203200" rIns="203200" bIns="203200" rtlCol="0" anchor="t">
            <a:noAutofit/>
          </a:bodyPr>
          <a:lstStyle/>
          <a:p>
            <a:pPr algn="ctr" defTabSz="1219170">
              <a:lnSpc>
                <a:spcPct val="120000"/>
              </a:lnSpc>
            </a:pPr>
            <a:r>
              <a:rPr lang="en-US" sz="140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</a:rPr>
              <a:t>Agent checks available skills , select needed skills</a:t>
            </a:r>
          </a:p>
          <a:p>
            <a:pPr algn="ctr" defTabSz="1219170">
              <a:lnSpc>
                <a:spcPct val="120000"/>
              </a:lnSpc>
            </a:pPr>
            <a:endParaRPr lang="en-US" sz="1200">
              <a:solidFill>
                <a:srgbClr val="DBE4F0"/>
              </a:solidFill>
              <a:latin typeface="ui-sans-serif" pitchFamily="34" charset="0"/>
              <a:ea typeface="ui-sans-serif" pitchFamily="34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D6A41C2-F988-E000-8118-59CED22CCAE0}"/>
              </a:ext>
            </a:extLst>
          </p:cNvPr>
          <p:cNvSpPr/>
          <p:nvPr/>
        </p:nvSpPr>
        <p:spPr>
          <a:xfrm>
            <a:off x="902890" y="2848175"/>
            <a:ext cx="3727729" cy="726281"/>
          </a:xfrm>
          <a:prstGeom prst="roundRect">
            <a:avLst>
              <a:gd name="adj" fmla="val 30216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203200" tIns="203200" rIns="203200" bIns="203200" rtlCol="0" anchor="t">
            <a:noAutofit/>
          </a:bodyPr>
          <a:lstStyle/>
          <a:p>
            <a:pPr algn="ctr" defTabSz="1219170">
              <a:lnSpc>
                <a:spcPct val="120000"/>
              </a:lnSpc>
            </a:pPr>
            <a:r>
              <a:rPr lang="en-US" sz="140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</a:rPr>
              <a:t>Loads the best skill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98804E2-0E01-1703-441E-417AFE00E216}"/>
              </a:ext>
            </a:extLst>
          </p:cNvPr>
          <p:cNvSpPr/>
          <p:nvPr/>
        </p:nvSpPr>
        <p:spPr>
          <a:xfrm>
            <a:off x="5142273" y="2889650"/>
            <a:ext cx="3091855" cy="726281"/>
          </a:xfrm>
          <a:prstGeom prst="roundRect">
            <a:avLst>
              <a:gd name="adj" fmla="val 30216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203200" tIns="203200" rIns="203200" bIns="203200" rtlCol="0" anchor="t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Follows steps and rules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AA066A6-B3A1-2D6F-87E4-61831B14C975}"/>
              </a:ext>
            </a:extLst>
          </p:cNvPr>
          <p:cNvSpPr/>
          <p:nvPr/>
        </p:nvSpPr>
        <p:spPr>
          <a:xfrm>
            <a:off x="8784630" y="2848175"/>
            <a:ext cx="2136180" cy="726281"/>
          </a:xfrm>
          <a:prstGeom prst="roundRect">
            <a:avLst>
              <a:gd name="adj" fmla="val 30216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lIns="203200" tIns="203200" rIns="203200" bIns="203200" rtlCol="0" anchor="t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Returns output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A4E2F83-2A28-D116-E94D-DE219170F045}"/>
              </a:ext>
            </a:extLst>
          </p:cNvPr>
          <p:cNvSpPr/>
          <p:nvPr/>
        </p:nvSpPr>
        <p:spPr>
          <a:xfrm>
            <a:off x="628650" y="4085039"/>
            <a:ext cx="5130800" cy="2437804"/>
          </a:xfrm>
          <a:prstGeom prst="roundRect">
            <a:avLst>
              <a:gd name="adj" fmla="val 18115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25E5B41-78C0-87B7-E0C3-F21532ACC217}"/>
              </a:ext>
            </a:extLst>
          </p:cNvPr>
          <p:cNvSpPr/>
          <p:nvPr/>
        </p:nvSpPr>
        <p:spPr>
          <a:xfrm>
            <a:off x="5916415" y="4153496"/>
            <a:ext cx="5187950" cy="2210989"/>
          </a:xfrm>
          <a:prstGeom prst="roundRect">
            <a:avLst>
              <a:gd name="adj" fmla="val 18115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381000" dist="11430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33175B4-06F8-A829-23DA-03E39E6BD3F8}"/>
              </a:ext>
            </a:extLst>
          </p:cNvPr>
          <p:cNvSpPr/>
          <p:nvPr/>
        </p:nvSpPr>
        <p:spPr>
          <a:xfrm>
            <a:off x="812800" y="493515"/>
            <a:ext cx="10777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How the agent uses a skill</a:t>
            </a:r>
            <a:endParaRPr kumimoji="0" 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34C42F8-D27C-7B90-894B-8C302789F053}"/>
              </a:ext>
            </a:extLst>
          </p:cNvPr>
          <p:cNvSpPr/>
          <p:nvPr/>
        </p:nvSpPr>
        <p:spPr>
          <a:xfrm>
            <a:off x="3755232" y="2117130"/>
            <a:ext cx="225885" cy="410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323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80" b="0" i="0" u="none" strike="noStrike" kern="1200" cap="none" spc="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</a:t>
            </a:r>
            <a:endParaRPr kumimoji="0" lang="en-US" sz="20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984B382-064E-ED58-0526-076DC7043453}"/>
              </a:ext>
            </a:extLst>
          </p:cNvPr>
          <p:cNvSpPr/>
          <p:nvPr/>
        </p:nvSpPr>
        <p:spPr>
          <a:xfrm>
            <a:off x="9420789" y="2057107"/>
            <a:ext cx="225885" cy="410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323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80" b="0" i="0" u="none" strike="noStrike" kern="1200" cap="none" spc="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</a:t>
            </a:r>
            <a:endParaRPr kumimoji="0" lang="en-US" sz="20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B1FD787-47FC-29DE-6B66-0FC01956733A}"/>
              </a:ext>
            </a:extLst>
          </p:cNvPr>
          <p:cNvSpPr/>
          <p:nvPr/>
        </p:nvSpPr>
        <p:spPr>
          <a:xfrm>
            <a:off x="4680996" y="3047407"/>
            <a:ext cx="225885" cy="410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323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80" b="0" i="0" u="none" strike="noStrike" kern="1200" cap="none" spc="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</a:t>
            </a:r>
            <a:endParaRPr kumimoji="0" lang="en-US" sz="20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7B46EC6-DAFE-6DFD-85F0-EA8B024F7635}"/>
              </a:ext>
            </a:extLst>
          </p:cNvPr>
          <p:cNvSpPr/>
          <p:nvPr/>
        </p:nvSpPr>
        <p:spPr>
          <a:xfrm>
            <a:off x="8284505" y="3031528"/>
            <a:ext cx="225885" cy="410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323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80" b="0" i="0" u="none" strike="noStrike" kern="1200" cap="none" spc="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</a:t>
            </a:r>
            <a:endParaRPr kumimoji="0" lang="en-US" sz="20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2CC94DC-8744-5002-2D75-22B5D62C644B}"/>
              </a:ext>
            </a:extLst>
          </p:cNvPr>
          <p:cNvSpPr/>
          <p:nvPr/>
        </p:nvSpPr>
        <p:spPr>
          <a:xfrm>
            <a:off x="1085485" y="4401942"/>
            <a:ext cx="467396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With only a prompt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99C8E8A-1A02-572D-4E45-F025E49813FE}"/>
              </a:ext>
            </a:extLst>
          </p:cNvPr>
          <p:cNvSpPr/>
          <p:nvPr/>
        </p:nvSpPr>
        <p:spPr>
          <a:xfrm>
            <a:off x="1085486" y="4859142"/>
            <a:ext cx="458231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agent may need the same guidance again and again.</a:t>
            </a:r>
            <a:r>
              <a:rPr lang="en-US"/>
              <a:t> </a:t>
            </a:r>
          </a:p>
          <a:p>
            <a:r>
              <a:rPr lang="en-US" sz="1400">
                <a:solidFill>
                  <a:schemeClr val="bg1"/>
                </a:solidFill>
              </a:rPr>
              <a:t>You might ask: “Tell me how to make soup dumplings.”</a:t>
            </a:r>
          </a:p>
          <a:p>
            <a:r>
              <a:rPr lang="en-US" sz="1400">
                <a:solidFill>
                  <a:schemeClr val="bg1"/>
                </a:solidFill>
              </a:rPr>
              <a:t>The answer may be useful, but the level of detail, order, and quality can change each time.</a:t>
            </a:r>
          </a:p>
          <a:p>
            <a:pPr marL="0" marR="0" lvl="0" indent="0" algn="l" defTabSz="121917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63F9AD1-E27B-540A-AE65-94CF05493251}"/>
              </a:ext>
            </a:extLst>
          </p:cNvPr>
          <p:cNvSpPr/>
          <p:nvPr/>
        </p:nvSpPr>
        <p:spPr>
          <a:xfrm>
            <a:off x="6338490" y="4427735"/>
            <a:ext cx="467396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With a skill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4427668-B4C3-3C77-D191-781201BF8166}"/>
              </a:ext>
            </a:extLst>
          </p:cNvPr>
          <p:cNvSpPr/>
          <p:nvPr/>
        </p:nvSpPr>
        <p:spPr>
          <a:xfrm>
            <a:off x="6338491" y="4884935"/>
            <a:ext cx="458231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BE4F0"/>
                </a:solidFill>
                <a:effectLst/>
                <a:uLnTx/>
                <a:uFillTx/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agent can reuse the same proven method when the task appears again. </a:t>
            </a:r>
            <a:r>
              <a:rPr lang="en-US" sz="1400">
                <a:solidFill>
                  <a:schemeClr val="bg1"/>
                </a:solidFill>
              </a:rPr>
              <a:t>The skill can enforce the same workflow every time.</a:t>
            </a:r>
          </a:p>
          <a:p>
            <a:r>
              <a:rPr lang="en-US" sz="1400">
                <a:solidFill>
                  <a:schemeClr val="bg1"/>
                </a:solidFill>
              </a:rPr>
              <a:t>For example: make broth jelly, prepare dough, mix filling, wrap dumplings, steam, then serve with ginger vinegar.</a:t>
            </a:r>
          </a:p>
          <a:p>
            <a:pPr marL="0" marR="0" lvl="0" indent="0" algn="l" defTabSz="121917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1680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DBA3C-3D5A-98CC-18B9-B33D27044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C7D02-FFBB-F296-518A-72361B416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Current design for AI Agent debug flow </a:t>
            </a:r>
            <a:r>
              <a:rPr lang="en-US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D0E35C-0505-46FC-BB83-A9092E7CF60F}"/>
              </a:ext>
            </a:extLst>
          </p:cNvPr>
          <p:cNvSpPr/>
          <p:nvPr/>
        </p:nvSpPr>
        <p:spPr>
          <a:xfrm>
            <a:off x="942308" y="2229870"/>
            <a:ext cx="1580186" cy="615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r>
              <a:rPr lang="en-US" sz="1200"/>
              <a:t>Issue description /timing retrieval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B06A73-1B6E-3638-6F44-7580B4BE6271}"/>
              </a:ext>
            </a:extLst>
          </p:cNvPr>
          <p:cNvSpPr/>
          <p:nvPr/>
        </p:nvSpPr>
        <p:spPr>
          <a:xfrm>
            <a:off x="9285515" y="2240864"/>
            <a:ext cx="1492250" cy="615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  Confidence &amp; Refine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BAF14E-39A4-4F91-B2E0-C0F2EDEC46B4}"/>
              </a:ext>
            </a:extLst>
          </p:cNvPr>
          <p:cNvSpPr/>
          <p:nvPr/>
        </p:nvSpPr>
        <p:spPr>
          <a:xfrm>
            <a:off x="6533187" y="2240864"/>
            <a:ext cx="1492250" cy="615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  Filter agent tools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751049-85B3-68CD-C912-18F4334DC20B}"/>
              </a:ext>
            </a:extLst>
          </p:cNvPr>
          <p:cNvSpPr txBox="1"/>
          <p:nvPr/>
        </p:nvSpPr>
        <p:spPr>
          <a:xfrm>
            <a:off x="3694849" y="2948105"/>
            <a:ext cx="213337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Read issue description and decide what skill sets to choose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Iterate over 6 times until submit final reports    </a:t>
            </a:r>
            <a:endParaRPr lang="en-US" sz="1200"/>
          </a:p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DA4F30-60E8-F4A5-6318-192CE86B3E03}"/>
              </a:ext>
            </a:extLst>
          </p:cNvPr>
          <p:cNvSpPr/>
          <p:nvPr/>
        </p:nvSpPr>
        <p:spPr>
          <a:xfrm>
            <a:off x="4019916" y="2274520"/>
            <a:ext cx="1580186" cy="615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AI agent orchestrator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355C41-E5F0-0B0B-8454-B37FB8F09434}"/>
              </a:ext>
            </a:extLst>
          </p:cNvPr>
          <p:cNvSpPr txBox="1"/>
          <p:nvPr/>
        </p:nvSpPr>
        <p:spPr>
          <a:xfrm>
            <a:off x="852743" y="2923109"/>
            <a:ext cx="213337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Use IPS description to identify initial problem statement and issue timing 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Identify issue time help AI agent focus on analysis, also save tokens . </a:t>
            </a:r>
            <a:endParaRPr lang="en-US" sz="1200"/>
          </a:p>
          <a:p>
            <a:endParaRPr lang="en-US"/>
          </a:p>
        </p:txBody>
      </p:sp>
      <p:sp>
        <p:nvSpPr>
          <p:cNvPr id="14" name="Arrow: Curved Up 13">
            <a:extLst>
              <a:ext uri="{FF2B5EF4-FFF2-40B4-BE49-F238E27FC236}">
                <a16:creationId xmlns:a16="http://schemas.microsoft.com/office/drawing/2014/main" id="{B10F52C8-F960-65CB-E275-AEAF6B930DB8}"/>
              </a:ext>
            </a:extLst>
          </p:cNvPr>
          <p:cNvSpPr/>
          <p:nvPr/>
        </p:nvSpPr>
        <p:spPr>
          <a:xfrm flipH="1" flipV="1">
            <a:off x="4906903" y="1569832"/>
            <a:ext cx="2339750" cy="615950"/>
          </a:xfrm>
          <a:prstGeom prst="curved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BF9D0B-E0D3-7290-6D2D-1C9B0614B644}"/>
              </a:ext>
            </a:extLst>
          </p:cNvPr>
          <p:cNvSpPr txBox="1"/>
          <p:nvPr/>
        </p:nvSpPr>
        <p:spPr>
          <a:xfrm>
            <a:off x="4615884" y="4884490"/>
            <a:ext cx="34853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Call the Tools/Skills needed to complete the tasks </a:t>
            </a:r>
            <a:endParaRPr lang="en-US" sz="1200"/>
          </a:p>
          <a:p>
            <a:endParaRPr lang="en-US"/>
          </a:p>
        </p:txBody>
      </p:sp>
      <p:sp>
        <p:nvSpPr>
          <p:cNvPr id="16" name="Arrow: Curved Up 15">
            <a:extLst>
              <a:ext uri="{FF2B5EF4-FFF2-40B4-BE49-F238E27FC236}">
                <a16:creationId xmlns:a16="http://schemas.microsoft.com/office/drawing/2014/main" id="{AE09D622-0853-08A1-2256-0F0E4FE56DCD}"/>
              </a:ext>
            </a:extLst>
          </p:cNvPr>
          <p:cNvSpPr/>
          <p:nvPr/>
        </p:nvSpPr>
        <p:spPr>
          <a:xfrm>
            <a:off x="5077220" y="4018795"/>
            <a:ext cx="2393950" cy="615950"/>
          </a:xfrm>
          <a:prstGeom prst="curved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511268-0E62-A7EC-9BF6-0FF760428FEC}"/>
              </a:ext>
            </a:extLst>
          </p:cNvPr>
          <p:cNvSpPr txBox="1"/>
          <p:nvPr/>
        </p:nvSpPr>
        <p:spPr>
          <a:xfrm>
            <a:off x="4446528" y="1148337"/>
            <a:ext cx="3485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Analysis result of Filtered logs , with history appended  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23137E-6D4C-12C2-BB7C-338BBE905CB5}"/>
              </a:ext>
            </a:extLst>
          </p:cNvPr>
          <p:cNvSpPr txBox="1"/>
          <p:nvPr/>
        </p:nvSpPr>
        <p:spPr>
          <a:xfrm>
            <a:off x="9218840" y="2948105"/>
            <a:ext cx="18192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Guard the output quality of the issue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Refine answers if meet the Question itself.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121526-7716-C548-4BF7-75C03FF0118D}"/>
              </a:ext>
            </a:extLst>
          </p:cNvPr>
          <p:cNvSpPr/>
          <p:nvPr/>
        </p:nvSpPr>
        <p:spPr>
          <a:xfrm>
            <a:off x="3995114" y="5457830"/>
            <a:ext cx="1580186" cy="615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Skill Sets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4B0A42-B331-4089-C6C8-9AB3F256EB14}"/>
              </a:ext>
            </a:extLst>
          </p:cNvPr>
          <p:cNvSpPr txBox="1"/>
          <p:nvPr/>
        </p:nvSpPr>
        <p:spPr>
          <a:xfrm>
            <a:off x="5798799" y="5369092"/>
            <a:ext cx="31596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Written as .md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Description of what problem this skill can solve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What logs to read (Filter)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How to read it – knowledge 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80A7D-868F-CFCB-EECA-BD748BDB2F8C}"/>
              </a:ext>
            </a:extLst>
          </p:cNvPr>
          <p:cNvSpPr txBox="1"/>
          <p:nvPr/>
        </p:nvSpPr>
        <p:spPr>
          <a:xfrm>
            <a:off x="6476036" y="2890470"/>
            <a:ext cx="228061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Apply filter according to skill set 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Provided analysis result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Each time AI can use 2~3 Skill sets </a:t>
            </a:r>
            <a:endParaRPr lang="en-US" sz="1200"/>
          </a:p>
          <a:p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15A8F0E-A5E1-FBE3-20D4-88EFDA38B5C4}"/>
              </a:ext>
            </a:extLst>
          </p:cNvPr>
          <p:cNvSpPr/>
          <p:nvPr/>
        </p:nvSpPr>
        <p:spPr>
          <a:xfrm>
            <a:off x="2757154" y="2395781"/>
            <a:ext cx="1003300" cy="2667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391E1D6-BC7A-0A82-FBA7-B477C6C91BC7}"/>
              </a:ext>
            </a:extLst>
          </p:cNvPr>
          <p:cNvSpPr/>
          <p:nvPr/>
        </p:nvSpPr>
        <p:spPr>
          <a:xfrm flipH="1">
            <a:off x="8191499" y="2415489"/>
            <a:ext cx="876300" cy="2667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1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53EAA-884A-2836-A982-D5FF2473C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AI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Playbook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060FA3-0FFF-08A6-F65D-770B22044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98" y="1590517"/>
            <a:ext cx="5210902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80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8715E0-EBB0-04A0-30D4-264ADB60F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571500"/>
            <a:ext cx="11010816" cy="952499"/>
          </a:xfrm>
        </p:spPr>
        <p:txBody>
          <a:bodyPr/>
          <a:lstStyle/>
          <a:p>
            <a:r>
              <a:rPr lang="en-US" altLang="zh-TW" dirty="0">
                <a:solidFill>
                  <a:schemeClr val="bg1"/>
                </a:solidFill>
              </a:rPr>
              <a:t>AI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Playbook 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8344B2-C5BF-9C92-DFB5-6B428BF36BB5}"/>
              </a:ext>
            </a:extLst>
          </p:cNvPr>
          <p:cNvSpPr/>
          <p:nvPr/>
        </p:nvSpPr>
        <p:spPr>
          <a:xfrm>
            <a:off x="440658" y="2134280"/>
            <a:ext cx="1580186" cy="615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r>
              <a:rPr lang="en-US" sz="1200"/>
              <a:t>Issue description /timing retrieval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80B583-2269-02E8-4BDE-22DF773CFE77}"/>
              </a:ext>
            </a:extLst>
          </p:cNvPr>
          <p:cNvSpPr/>
          <p:nvPr/>
        </p:nvSpPr>
        <p:spPr>
          <a:xfrm>
            <a:off x="5594730" y="2138766"/>
            <a:ext cx="1492250" cy="615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  Filter agent tools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7E949-46F5-5E49-430B-03DF5756786A}"/>
              </a:ext>
            </a:extLst>
          </p:cNvPr>
          <p:cNvSpPr txBox="1"/>
          <p:nvPr/>
        </p:nvSpPr>
        <p:spPr>
          <a:xfrm>
            <a:off x="3098500" y="2820163"/>
            <a:ext cx="213337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Read issue description and decide what skill sets to choose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Iterate over 6 times until submit final reports    </a:t>
            </a:r>
            <a:endParaRPr lang="en-US" sz="1200"/>
          </a:p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C10035-BC84-716C-1CDC-101B6CA17246}"/>
              </a:ext>
            </a:extLst>
          </p:cNvPr>
          <p:cNvSpPr/>
          <p:nvPr/>
        </p:nvSpPr>
        <p:spPr>
          <a:xfrm>
            <a:off x="3175011" y="2138766"/>
            <a:ext cx="1580186" cy="615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AI agent orchestrator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62BF8A-2E8C-8C7B-719B-2779F6EE2AC0}"/>
              </a:ext>
            </a:extLst>
          </p:cNvPr>
          <p:cNvSpPr txBox="1"/>
          <p:nvPr/>
        </p:nvSpPr>
        <p:spPr>
          <a:xfrm>
            <a:off x="351093" y="2827519"/>
            <a:ext cx="213337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Use IPS description to identify initial problem statement and issue timing 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Identify issue time help AI agent focus on analysis, also save tokens . </a:t>
            </a:r>
            <a:endParaRPr lang="en-US" sz="1200"/>
          </a:p>
          <a:p>
            <a:endParaRPr lang="en-US"/>
          </a:p>
        </p:txBody>
      </p:sp>
      <p:sp>
        <p:nvSpPr>
          <p:cNvPr id="11" name="Arrow: Curved Up 10">
            <a:extLst>
              <a:ext uri="{FF2B5EF4-FFF2-40B4-BE49-F238E27FC236}">
                <a16:creationId xmlns:a16="http://schemas.microsoft.com/office/drawing/2014/main" id="{FD68098E-D35B-0574-D194-ADC6B3107BCD}"/>
              </a:ext>
            </a:extLst>
          </p:cNvPr>
          <p:cNvSpPr/>
          <p:nvPr/>
        </p:nvSpPr>
        <p:spPr>
          <a:xfrm flipH="1" flipV="1">
            <a:off x="4061998" y="1434078"/>
            <a:ext cx="2339750" cy="615950"/>
          </a:xfrm>
          <a:prstGeom prst="curved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C74A5F-D357-B628-0B41-30C36CD848CA}"/>
              </a:ext>
            </a:extLst>
          </p:cNvPr>
          <p:cNvSpPr txBox="1"/>
          <p:nvPr/>
        </p:nvSpPr>
        <p:spPr>
          <a:xfrm>
            <a:off x="9202930" y="2923109"/>
            <a:ext cx="34853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Call the Tools/Skills needed to complete the tasks </a:t>
            </a:r>
            <a:endParaRPr lang="en-US" sz="1200" dirty="0"/>
          </a:p>
          <a:p>
            <a:endParaRPr lang="en-US" dirty="0"/>
          </a:p>
        </p:txBody>
      </p:sp>
      <p:sp>
        <p:nvSpPr>
          <p:cNvPr id="13" name="Arrow: Curved Up 12">
            <a:extLst>
              <a:ext uri="{FF2B5EF4-FFF2-40B4-BE49-F238E27FC236}">
                <a16:creationId xmlns:a16="http://schemas.microsoft.com/office/drawing/2014/main" id="{A9AA5DB3-C6FB-26A8-5345-9A44001EB988}"/>
              </a:ext>
            </a:extLst>
          </p:cNvPr>
          <p:cNvSpPr/>
          <p:nvPr/>
        </p:nvSpPr>
        <p:spPr>
          <a:xfrm>
            <a:off x="4184106" y="3920432"/>
            <a:ext cx="2393950" cy="615950"/>
          </a:xfrm>
          <a:prstGeom prst="curved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3DF562-965E-04D0-C6FC-83E2719F37E1}"/>
              </a:ext>
            </a:extLst>
          </p:cNvPr>
          <p:cNvSpPr txBox="1"/>
          <p:nvPr/>
        </p:nvSpPr>
        <p:spPr>
          <a:xfrm>
            <a:off x="3985102" y="1010826"/>
            <a:ext cx="3485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Analysis result of Filtered logs , with history appended 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D2FE86-2EC2-4195-D594-F8E87B2D648D}"/>
              </a:ext>
            </a:extLst>
          </p:cNvPr>
          <p:cNvSpPr/>
          <p:nvPr/>
        </p:nvSpPr>
        <p:spPr>
          <a:xfrm>
            <a:off x="8464195" y="2134294"/>
            <a:ext cx="1580186" cy="5962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Skill Sets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B4826F-CD6B-0647-B65D-B1FAD41520C8}"/>
              </a:ext>
            </a:extLst>
          </p:cNvPr>
          <p:cNvSpPr txBox="1"/>
          <p:nvPr/>
        </p:nvSpPr>
        <p:spPr>
          <a:xfrm>
            <a:off x="8376735" y="3212744"/>
            <a:ext cx="31596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Written as .md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Description of what problem this skill can solve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What logs to read (Filter)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How to read it – knowledge 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F79E32-1460-1510-0D60-90A28AD64FFA}"/>
              </a:ext>
            </a:extLst>
          </p:cNvPr>
          <p:cNvSpPr txBox="1"/>
          <p:nvPr/>
        </p:nvSpPr>
        <p:spPr>
          <a:xfrm>
            <a:off x="5518612" y="2772903"/>
            <a:ext cx="228061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Apply filter according to skill set 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Provided analysis result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Each time AI can use 2~3 Skill sets </a:t>
            </a:r>
            <a:endParaRPr lang="en-US" sz="1200" dirty="0"/>
          </a:p>
          <a:p>
            <a:endParaRPr lang="en-US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DE35F41-7367-01DF-606B-3550FB7D3AD3}"/>
              </a:ext>
            </a:extLst>
          </p:cNvPr>
          <p:cNvSpPr/>
          <p:nvPr/>
        </p:nvSpPr>
        <p:spPr>
          <a:xfrm>
            <a:off x="2095200" y="2331941"/>
            <a:ext cx="1003300" cy="2667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Left-Right 20">
            <a:extLst>
              <a:ext uri="{FF2B5EF4-FFF2-40B4-BE49-F238E27FC236}">
                <a16:creationId xmlns:a16="http://schemas.microsoft.com/office/drawing/2014/main" id="{AA2D0C92-CC4A-9F49-C56D-B0C4AB843299}"/>
              </a:ext>
            </a:extLst>
          </p:cNvPr>
          <p:cNvSpPr/>
          <p:nvPr/>
        </p:nvSpPr>
        <p:spPr>
          <a:xfrm>
            <a:off x="7240425" y="2260027"/>
            <a:ext cx="1117600" cy="298450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3805F0E-9523-E89A-D633-98E83EBE25FD}"/>
              </a:ext>
            </a:extLst>
          </p:cNvPr>
          <p:cNvSpPr/>
          <p:nvPr/>
        </p:nvSpPr>
        <p:spPr>
          <a:xfrm>
            <a:off x="4400420" y="4723720"/>
            <a:ext cx="1485900" cy="83185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Playbook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E19C37-6985-A5DA-2794-D8FAA760B872}"/>
              </a:ext>
            </a:extLst>
          </p:cNvPr>
          <p:cNvSpPr txBox="1"/>
          <p:nvPr/>
        </p:nvSpPr>
        <p:spPr>
          <a:xfrm>
            <a:off x="4315956" y="5620966"/>
            <a:ext cx="3746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Record case description , skill set used , skill used history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Maintain this experience by issue category.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Next time new issue can learn and select good skills in this category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5924C8D-E304-0396-71FC-99BD4F20F736}"/>
              </a:ext>
            </a:extLst>
          </p:cNvPr>
          <p:cNvSpPr/>
          <p:nvPr/>
        </p:nvSpPr>
        <p:spPr>
          <a:xfrm>
            <a:off x="8376735" y="4602050"/>
            <a:ext cx="1485900" cy="83185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feedback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82330D-9EF4-CA9A-045B-D1ADB2F3432E}"/>
              </a:ext>
            </a:extLst>
          </p:cNvPr>
          <p:cNvSpPr txBox="1"/>
          <p:nvPr/>
        </p:nvSpPr>
        <p:spPr>
          <a:xfrm>
            <a:off x="8446757" y="5770450"/>
            <a:ext cx="3746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User review skill set used , modify it , commit it to git/review  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3657DE3-0F6C-19C4-87E8-DBDCBA7BC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926" y="5775445"/>
            <a:ext cx="322721" cy="30410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CC78300-56D2-EB6F-0062-853DEE508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892" y="5775601"/>
            <a:ext cx="246769" cy="30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627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70" y="400000"/>
            <a:ext cx="11010816" cy="900000"/>
          </a:xfrm>
        </p:spPr>
        <p:txBody>
          <a:bodyPr wrap="square"/>
          <a:lstStyle/>
          <a:p>
            <a:r>
              <a:rPr sz="4000" b="0">
                <a:solidFill>
                  <a:srgbClr val="FFFFFF"/>
                </a:solidFill>
                <a:latin typeface="IntelOne Display Light"/>
              </a:rPr>
              <a:t>What is ACE?  Agentic Context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0700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IntelOne Text Light"/>
              </a:rPr>
              <a:t>Treat the playbook as an evolving context that improves itself - accumulating, refining and organizing debug strategies over time, instead of being rewritten from scratch.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31720"/>
            <a:ext cx="2331720" cy="64008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IntelOne Display Light"/>
              </a:rPr>
              <a:t>Generator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331720"/>
            <a:ext cx="2331720" cy="64008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IntelOne Display Light"/>
              </a:rPr>
              <a:t>Reflector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2331720"/>
            <a:ext cx="2331720" cy="64008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IntelOne Display Light"/>
              </a:rPr>
              <a:t>Curator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0" y="2331720"/>
            <a:ext cx="1783080" cy="640080"/>
          </a:xfrm>
          <a:prstGeom prst="roundRect">
            <a:avLst/>
          </a:prstGeom>
          <a:solidFill>
            <a:srgbClr val="FE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IntelOne Display Light"/>
              </a:rPr>
              <a:t>AI Playbook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35808" y="2505456"/>
            <a:ext cx="566928" cy="292608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6053328" y="2505456"/>
            <a:ext cx="566928" cy="292608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9052560" y="2505456"/>
            <a:ext cx="566928" cy="292608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27248"/>
            <a:ext cx="23317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BD5E1"/>
                </a:solidFill>
                <a:latin typeface="IntelOne Text Light"/>
              </a:rPr>
              <a:t>Runs the case and produces a reasoning trajectory - surfacing which strategies worked and which failed.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127248"/>
            <a:ext cx="23317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BD5E1"/>
                </a:solidFill>
                <a:latin typeface="IntelOne Text Light"/>
              </a:rPr>
              <a:t>Distills concrete lessons from those successes and errors into clear, reusable insights.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127248"/>
            <a:ext cx="23317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BD5E1"/>
                </a:solidFill>
                <a:latin typeface="IntelOne Text Light"/>
              </a:rPr>
              <a:t>Merges insights into the playbook as small, structured delta updates - preserving existing detail.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3127248"/>
            <a:ext cx="1783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BD5E1"/>
                </a:solidFill>
                <a:latin typeface="IntelOne Text Light"/>
              </a:rPr>
              <a:t>A growing library of itemized strategy bullets the agent draws on for the next case.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245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00C7FD"/>
                </a:solidFill>
                <a:latin typeface="IntelOne Text Light"/>
              </a:rPr>
              <a:t>Iterative refinement - the updated playbook seeds the next round (offline batch or online per-case)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822959" y="4535424"/>
            <a:ext cx="9898380" cy="219456"/>
          </a:xfrm>
          <a:prstGeom prst="leftArrow">
            <a:avLst/>
          </a:prstGeom>
          <a:solidFill>
            <a:srgbClr val="00C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4983480"/>
            <a:ext cx="5349240" cy="1417320"/>
          </a:xfrm>
          <a:prstGeom prst="roundRect">
            <a:avLst/>
          </a:prstGeom>
          <a:solidFill>
            <a:srgbClr val="0A1F4D"/>
          </a:solidFill>
          <a:ln w="19050">
            <a:solidFill>
              <a:srgbClr val="00C7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4983480"/>
            <a:ext cx="5349240" cy="1417320"/>
          </a:xfrm>
          <a:prstGeom prst="roundRect">
            <a:avLst/>
          </a:prstGeom>
          <a:solidFill>
            <a:srgbClr val="0A1F4D"/>
          </a:solidFill>
          <a:ln w="19050">
            <a:solidFill>
              <a:srgbClr val="00C7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4807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C7FD"/>
                </a:solidFill>
                <a:latin typeface="IntelOne Display Light"/>
              </a:rPr>
              <a:t>Incremental delta 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50408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BD5E1"/>
                </a:solidFill>
                <a:latin typeface="IntelOne Text Light"/>
              </a:rPr>
              <a:t>Small, localized edits merged by lightweight logic - no costly full rewrites, so domain detail is never lost.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14807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C7FD"/>
                </a:solidFill>
                <a:latin typeface="IntelOne Display Light"/>
              </a:rPr>
              <a:t>Grow-and-refine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550408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BD5E1"/>
                </a:solidFill>
                <a:latin typeface="IntelOne Text Light"/>
              </a:rPr>
              <a:t>Steadily append new bullets while pruning duplicates - avoiding brevity bias and context collapse.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70" y="400000"/>
            <a:ext cx="11010816" cy="900000"/>
          </a:xfrm>
        </p:spPr>
        <p:txBody>
          <a:bodyPr wrap="square"/>
          <a:lstStyle/>
          <a:p>
            <a:r>
              <a:rPr sz="4000" b="0">
                <a:solidFill>
                  <a:srgbClr val="FFFFFF"/>
                </a:solidFill>
                <a:latin typeface="IntelOne Display Light"/>
              </a:rPr>
              <a:t>How ACE fits into our debug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IntelOne Text Light"/>
              </a:rPr>
              <a:t>ACE sits underneath the existing agent loop - turning each run's execution trace and user feedback into a self-improving playbook, with no manual prompt rewriting.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2240280" cy="658368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IntelOne Display Light"/>
              </a:rPr>
              <a:t>AI agent orchestrator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337560" y="2103120"/>
            <a:ext cx="2240280" cy="658368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IntelOne Display Light"/>
              </a:rPr>
              <a:t>Skills / filter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2103120"/>
            <a:ext cx="2240280" cy="658368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IntelOne Display Light"/>
              </a:rPr>
              <a:t>Case result + execution trace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103120"/>
            <a:ext cx="2240280" cy="658368"/>
          </a:xfrm>
          <a:prstGeom prst="roundRect">
            <a:avLst/>
          </a:prstGeom>
          <a:solidFill>
            <a:srgbClr val="FE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IntelOne Display Light"/>
              </a:rPr>
              <a:t>User feedback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35224" y="2285999"/>
            <a:ext cx="384048" cy="292608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5632703" y="2285999"/>
            <a:ext cx="384048" cy="292608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8330184" y="2285999"/>
            <a:ext cx="384048" cy="292608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BD5E1"/>
                </a:solidFill>
                <a:latin typeface="IntelOne Display Light"/>
              </a:rPr>
              <a:t>RUNNING AGENT  (each debug case)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3886200"/>
            <a:ext cx="2240280" cy="658368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IntelOne Display Light"/>
              </a:rPr>
              <a:t>Generator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886200"/>
            <a:ext cx="2240280" cy="658368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IntelOne Display Light"/>
              </a:rPr>
              <a:t>Reflector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3886200"/>
            <a:ext cx="2240280" cy="658368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IntelOne Display Light"/>
              </a:rPr>
              <a:t>Curator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86200"/>
            <a:ext cx="2240280" cy="658368"/>
          </a:xfrm>
          <a:prstGeom prst="roundRect">
            <a:avLst/>
          </a:prstGeom>
          <a:solidFill>
            <a:srgbClr val="FE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IntelOne Display Light"/>
              </a:rPr>
              <a:t>AI Playbook  (updated)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8330184" y="4069080"/>
            <a:ext cx="384048" cy="292608"/>
          </a:xfrm>
          <a:prstGeom prst="leftArrow">
            <a:avLst/>
          </a:prstGeom>
          <a:solidFill>
            <a:srgbClr val="00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ft Arrow 16"/>
          <p:cNvSpPr/>
          <p:nvPr/>
        </p:nvSpPr>
        <p:spPr>
          <a:xfrm>
            <a:off x="5632703" y="4069080"/>
            <a:ext cx="384048" cy="292608"/>
          </a:xfrm>
          <a:prstGeom prst="leftArrow">
            <a:avLst/>
          </a:prstGeom>
          <a:solidFill>
            <a:srgbClr val="00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ft Arrow 17"/>
          <p:cNvSpPr/>
          <p:nvPr/>
        </p:nvSpPr>
        <p:spPr>
          <a:xfrm>
            <a:off x="2935224" y="4069080"/>
            <a:ext cx="384048" cy="292608"/>
          </a:xfrm>
          <a:prstGeom prst="leftArrow">
            <a:avLst/>
          </a:prstGeom>
          <a:solidFill>
            <a:srgbClr val="004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20440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C7FD"/>
                </a:solidFill>
                <a:latin typeface="IntelOne Display Light"/>
              </a:rPr>
              <a:t>ACE ENGINE  (generate -&gt; reflect -&gt; curate)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0062972" y="2798063"/>
            <a:ext cx="310896" cy="740664"/>
          </a:xfrm>
          <a:prstGeom prst="downArrow">
            <a:avLst/>
          </a:prstGeom>
          <a:solidFill>
            <a:srgbClr val="00C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79" y="2962656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00C7FD"/>
                </a:solidFill>
                <a:latin typeface="IntelOne Text Light"/>
              </a:rPr>
              <a:t>Trace + feedback feed the engine</a:t>
            </a:r>
          </a:p>
        </p:txBody>
      </p:sp>
      <p:sp>
        <p:nvSpPr>
          <p:cNvPr id="22" name="Up Arrow 21"/>
          <p:cNvSpPr/>
          <p:nvPr/>
        </p:nvSpPr>
        <p:spPr>
          <a:xfrm>
            <a:off x="1604772" y="2798063"/>
            <a:ext cx="310896" cy="740664"/>
          </a:xfrm>
          <a:prstGeom prst="upArrow">
            <a:avLst/>
          </a:prstGeom>
          <a:solidFill>
            <a:srgbClr val="00C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2962656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0C7FD"/>
                </a:solidFill>
                <a:latin typeface="IntelOne Text Light"/>
              </a:rPr>
              <a:t>Better playbook seeds the next case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74920"/>
            <a:ext cx="10972800" cy="1325880"/>
          </a:xfrm>
          <a:prstGeom prst="roundRect">
            <a:avLst/>
          </a:prstGeom>
          <a:solidFill>
            <a:srgbClr val="0A1F4D"/>
          </a:solidFill>
          <a:ln w="19050">
            <a:solidFill>
              <a:srgbClr val="00C7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39512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C7FD"/>
                </a:solidFill>
                <a:latin typeface="IntelOne Display Light"/>
              </a:rPr>
              <a:t>What changes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23559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BD5E1"/>
                </a:solidFill>
                <a:latin typeface="IntelOne Text Light"/>
              </a:rPr>
              <a:t>- No manual, one-off prompt rewriting - the playbook self-improves from natural execution feedback.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BD5E1"/>
                </a:solidFill>
                <a:latin typeface="IntelOne Text Light"/>
              </a:rPr>
              <a:t>- Runs offline (periodic batch over past cases) or online (right after each user vote), at low cost.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BD5E1"/>
                </a:solidFill>
                <a:latin typeface="IntelOne Text Light"/>
              </a:rPr>
              <a:t>- Replaces full-rewrite updates with safe delta edits, so accumulated debug knowledge is preserved.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l 2025 | Tech Tour US | Day 02">
  <a:themeElements>
    <a:clrScheme name="Intel_2025_ITT">
      <a:dk1>
        <a:srgbClr val="000000"/>
      </a:dk1>
      <a:lt1>
        <a:srgbClr val="FFFFFF"/>
      </a:lt1>
      <a:dk2>
        <a:srgbClr val="030F26"/>
      </a:dk2>
      <a:lt2>
        <a:srgbClr val="FFFFFF"/>
      </a:lt2>
      <a:accent1>
        <a:srgbClr val="0046C8"/>
      </a:accent1>
      <a:accent2>
        <a:srgbClr val="00C7FD"/>
      </a:accent2>
      <a:accent3>
        <a:srgbClr val="FFE500"/>
      </a:accent3>
      <a:accent4>
        <a:srgbClr val="FE8022"/>
      </a:accent4>
      <a:accent5>
        <a:srgbClr val="A923F1"/>
      </a:accent5>
      <a:accent6>
        <a:srgbClr val="9FD541"/>
      </a:accent6>
      <a:hlink>
        <a:srgbClr val="00C7FD"/>
      </a:hlink>
      <a:folHlink>
        <a:srgbClr val="0046C8"/>
      </a:folHlink>
    </a:clrScheme>
    <a:fontScheme name="Intel 2025 ITT">
      <a:majorFont>
        <a:latin typeface="IntelOne Display Light"/>
        <a:ea typeface=""/>
        <a:cs typeface=""/>
      </a:majorFont>
      <a:minorFont>
        <a:latin typeface="IntelOne T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Classic Blue Tint 2">
      <a:srgbClr val="6BC4F6"/>
    </a:custClr>
    <a:custClr name="Energy Blue Tint 2">
      <a:srgbClr val="A0EBFF"/>
    </a:custClr>
    <a:custClr name="Carbon Tint 2">
      <a:srgbClr val="EAEAEA"/>
    </a:custClr>
    <a:custClr name="Blue Steel Tint 2">
      <a:srgbClr val="B9D7E5"/>
    </a:custClr>
    <a:custClr name="Electric Cosmos Tint 2">
      <a:srgbClr val="AF98FF"/>
    </a:custClr>
    <a:custClr name="Electric Cobalt Tint 2">
      <a:srgbClr val="B8BBFD"/>
    </a:custClr>
    <a:custClr name="Electric Aqua Tint 2">
      <a:srgbClr val="A2F6E9"/>
    </a:custClr>
    <a:custClr name="Electric Moss Tint 1">
      <a:srgbClr val="D1FF7D"/>
    </a:custClr>
    <a:custClr name="Electric Moss">
      <a:srgbClr val="A0D541"/>
    </a:custClr>
    <a:custClr name="Electric Moss Shade 1">
      <a:srgbClr val="719A2F"/>
    </a:custClr>
    <a:custClr name="Classic Blue Tint 1">
      <a:srgbClr val="0099EC"/>
    </a:custClr>
    <a:custClr name="Energy Blue Tint 1">
      <a:srgbClr val="6DDDFF"/>
    </a:custClr>
    <a:custClr name="Carbon Tint 1">
      <a:srgbClr val="AEAEAE"/>
    </a:custClr>
    <a:custClr name="Blue Steel Tint 1">
      <a:srgbClr val="86B3CA"/>
    </a:custClr>
    <a:custClr name="Electric Cosmos Tint 1">
      <a:srgbClr val="8B50FF"/>
    </a:custClr>
    <a:custClr name="Electric Cobalt Tint 1">
      <a:srgbClr val="7B7DFD"/>
    </a:custClr>
    <a:custClr name="Electric Aqua Tint 1">
      <a:srgbClr val="5AE4CD"/>
    </a:custClr>
    <a:custClr name="Electric Daisy Tint 1">
      <a:srgbClr val="FFFB97"/>
    </a:custClr>
    <a:custClr name="Electric Daisy">
      <a:srgbClr val="FFE600"/>
    </a:custClr>
    <a:custClr name="Electric Daisy Shade 1">
      <a:srgbClr val="F5C416"/>
    </a:custClr>
    <a:custClr name="Classic Digital Blue">
      <a:srgbClr val="0546C8"/>
    </a:custClr>
    <a:custClr name="Energy Blue">
      <a:srgbClr val="00C8FD"/>
    </a:custClr>
    <a:custClr name="Carbon">
      <a:srgbClr val="808080"/>
    </a:custClr>
    <a:custClr name="Blue Steel">
      <a:srgbClr val="548FAD"/>
    </a:custClr>
    <a:custClr name="Electric Cosmos">
      <a:srgbClr val="7001FF"/>
    </a:custClr>
    <a:custClr name="Electric Cobalt">
      <a:srgbClr val="231CFF"/>
    </a:custClr>
    <a:custClr name="Electric Aqua">
      <a:srgbClr val="15CFB1"/>
    </a:custClr>
    <a:custClr name="Electric Rust Tint 1">
      <a:srgbClr val="FFA300"/>
    </a:custClr>
    <a:custClr name="Electric Rust">
      <a:srgbClr val="FF5000"/>
    </a:custClr>
    <a:custClr name="Electric Rust Shade 1">
      <a:srgbClr val="BF3C00"/>
    </a:custClr>
    <a:custClr name="Classic Blue Shade 1">
      <a:srgbClr val="00377C"/>
    </a:custClr>
    <a:custClr name="Energy Blue Shade 1">
      <a:srgbClr val="0095CA"/>
    </a:custClr>
    <a:custClr name="Carbon Tint 1">
      <a:srgbClr val="525252"/>
    </a:custClr>
    <a:custClr name="Blue Steel Shade 1">
      <a:srgbClr val="41728B"/>
    </a:custClr>
    <a:custClr name="Electric Cosmos Shade 1">
      <a:srgbClr val="5300C0"/>
    </a:custClr>
    <a:custClr name="Electric Cobalt Shade 1">
      <a:srgbClr val="1410AE"/>
    </a:custClr>
    <a:custClr name="Electric Aqua Shade 1">
      <a:srgbClr val="0F9B8F"/>
    </a:custClr>
    <a:custClr name="Electric Coral Tint 1">
      <a:srgbClr val="FFA6B9"/>
    </a:custClr>
    <a:custClr name="Electric Coral">
      <a:srgbClr val="FF5A81"/>
    </a:custClr>
    <a:custClr name="Electric Coral Shade 1">
      <a:srgbClr val="E94477"/>
    </a:custClr>
    <a:custClr name="Classic Blue Shade 2">
      <a:srgbClr val="001E50"/>
    </a:custClr>
    <a:custClr name="Energy Blue Shade 2">
      <a:srgbClr val="005B85"/>
    </a:custClr>
    <a:custClr name="Carbon Tint 2">
      <a:srgbClr val="252525"/>
    </a:custClr>
    <a:custClr name="Blue Steel Shade 2">
      <a:srgbClr val="173443"/>
    </a:custClr>
    <a:custClr name="Electric Cosmos Shade 2">
      <a:srgbClr val="38007F"/>
    </a:custClr>
    <a:custClr name="Electric Cobalt Shade 2">
      <a:srgbClr val="050355"/>
    </a:custClr>
    <a:custClr name="Electric Aqua Shade 2">
      <a:srgbClr val="08746E"/>
    </a:custClr>
    <a:custClr name="Electric Geode Tint 1">
      <a:srgbClr val="C66EF8"/>
    </a:custClr>
    <a:custClr name="Electric Geode">
      <a:srgbClr val="A924F1"/>
    </a:custClr>
    <a:custClr name="Electric Geode Shade 1">
      <a:srgbClr val="8B1EBE"/>
    </a:custClr>
  </a:custClr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6174</TotalTime>
  <Words>894</Words>
  <Application>Microsoft Office PowerPoint</Application>
  <PresentationFormat>Widescreen</PresentationFormat>
  <Paragraphs>117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Instrument Serif</vt:lpstr>
      <vt:lpstr>System Font Regular</vt:lpstr>
      <vt:lpstr>ui-sans-serif</vt:lpstr>
      <vt:lpstr>Aptos</vt:lpstr>
      <vt:lpstr>Arial</vt:lpstr>
      <vt:lpstr>Calibri</vt:lpstr>
      <vt:lpstr>IntelOne Display Light</vt:lpstr>
      <vt:lpstr>IntelOne Text Light</vt:lpstr>
      <vt:lpstr>IntelOne Text Medium</vt:lpstr>
      <vt:lpstr>Wingdings</vt:lpstr>
      <vt:lpstr>Intel 2025 | Tech Tour US | Day 02</vt:lpstr>
      <vt:lpstr>Office Theme</vt:lpstr>
      <vt:lpstr>AI debug new structure : AI agent Skill  </vt:lpstr>
      <vt:lpstr>Previous method of AI debug triage </vt:lpstr>
      <vt:lpstr>PowerPoint Presentation</vt:lpstr>
      <vt:lpstr>PowerPoint Presentation</vt:lpstr>
      <vt:lpstr>PowerPoint Presentation</vt:lpstr>
      <vt:lpstr>PowerPoint Presentation</vt:lpstr>
      <vt:lpstr>Current design for AI Agent debug flow  </vt:lpstr>
      <vt:lpstr>AI Playbook </vt:lpstr>
      <vt:lpstr>AI Playbook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Granchalek, Ryan R</dc:creator>
  <cp:lastModifiedBy>Chu, Charles P</cp:lastModifiedBy>
  <cp:revision>2</cp:revision>
  <dcterms:created xsi:type="dcterms:W3CDTF">2026-01-27T15:05:20Z</dcterms:created>
  <dcterms:modified xsi:type="dcterms:W3CDTF">2026-06-22T02:29:52Z</dcterms:modified>
</cp:coreProperties>
</file>