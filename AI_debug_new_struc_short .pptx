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notesMasterIdLst>
    <p:notesMasterId r:id="rId12"/>
  </p:notesMasterIdLst>
  <p:sldIdLst>
    <p:sldId id="2147483644" r:id="rId3"/>
    <p:sldId id="2147483646" r:id="rId4"/>
    <p:sldId id="263" r:id="rId5"/>
    <p:sldId id="264" r:id="rId6"/>
    <p:sldId id="265" r:id="rId7"/>
    <p:sldId id="266" r:id="rId8"/>
    <p:sldId id="267" r:id="rId9"/>
    <p:sldId id="277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, Charles P" userId="bbcde314-bab1-440a-979a-652249f9c9b2" providerId="ADAL" clId="{F60471B9-2EB5-437E-ADCB-600E09168079}"/>
    <pc:docChg chg="delSld modSld sldOrd">
      <pc:chgData name="Chu, Charles P" userId="bbcde314-bab1-440a-979a-652249f9c9b2" providerId="ADAL" clId="{F60471B9-2EB5-437E-ADCB-600E09168079}" dt="2026-06-22T02:29:45.222" v="3" actId="1076"/>
      <pc:docMkLst>
        <pc:docMk/>
      </pc:docMkLst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347788510" sldId="256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1886289304" sldId="257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607756762" sldId="258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971833112" sldId="259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770603714" sldId="260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2374088214" sldId="261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476481153" sldId="262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1716035389" sldId="268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2673278243" sldId="269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1136715484" sldId="270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3323123840" sldId="271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3982319717" sldId="272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301319851" sldId="273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429293193" sldId="274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1114524899" sldId="275"/>
        </pc:sldMkLst>
      </pc:sldChg>
      <pc:sldChg chg="modSp mod ord">
        <pc:chgData name="Chu, Charles P" userId="bbcde314-bab1-440a-979a-652249f9c9b2" providerId="ADAL" clId="{F60471B9-2EB5-437E-ADCB-600E09168079}" dt="2026-06-22T02:29:45.222" v="3" actId="1076"/>
        <pc:sldMkLst>
          <pc:docMk/>
          <pc:sldMk cId="3246980940" sldId="277"/>
        </pc:sldMkLst>
        <pc:picChg chg="mod">
          <ac:chgData name="Chu, Charles P" userId="bbcde314-bab1-440a-979a-652249f9c9b2" providerId="ADAL" clId="{F60471B9-2EB5-437E-ADCB-600E09168079}" dt="2026-06-22T02:29:45.222" v="3" actId="1076"/>
          <ac:picMkLst>
            <pc:docMk/>
            <pc:sldMk cId="3246980940" sldId="277"/>
            <ac:picMk id="5" creationId="{ED060FA3-0FFF-08A6-F65D-770B220445EF}"/>
          </ac:picMkLst>
        </pc:picChg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2200188062" sldId="2147483647"/>
        </pc:sldMkLst>
      </pc:sldChg>
      <pc:sldMasterChg chg="delSldLayout">
        <pc:chgData name="Chu, Charles P" userId="bbcde314-bab1-440a-979a-652249f9c9b2" providerId="ADAL" clId="{F60471B9-2EB5-437E-ADCB-600E09168079}" dt="2026-06-22T02:29:15.947" v="0" actId="47"/>
        <pc:sldMasterMkLst>
          <pc:docMk/>
          <pc:sldMasterMk cId="2193142894" sldId="2147483660"/>
        </pc:sldMasterMkLst>
        <pc:sldLayoutChg chg="del">
          <pc:chgData name="Chu, Charles P" userId="bbcde314-bab1-440a-979a-652249f9c9b2" providerId="ADAL" clId="{F60471B9-2EB5-437E-ADCB-600E09168079}" dt="2026-06-22T02:29:15.947" v="0" actId="47"/>
          <pc:sldLayoutMkLst>
            <pc:docMk/>
            <pc:sldMasterMk cId="2193142894" sldId="2147483660"/>
            <pc:sldLayoutMk cId="870239053" sldId="214748366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17D6-D9E0-4E97-BDF5-165B79C921F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47BF3-7813-4A34-8CF3-7A0B53EE0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8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03F8D-1C13-4DB1-21F6-AC821B5E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EA398-13AB-373A-2406-6909AB400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DB36C-4881-78F9-078D-8D011B770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3924E-F717-F17B-C780-CFD4B2C90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574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CA24F-BC8A-4880-A155-136BC1F3B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56513-51FF-5719-8BA2-CEDA40F71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24839-4677-1236-94BC-CA932746F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example , if we use prompt of </a:t>
            </a:r>
            <a:r>
              <a:rPr lang="en-US" err="1"/>
              <a:t>wifi</a:t>
            </a:r>
            <a:r>
              <a:rPr lang="en-US"/>
              <a:t> to ask certain log , it highly depends on the prompt that provide detail and exact wording </a:t>
            </a:r>
            <a:r>
              <a:rPr lang="en-US" err="1"/>
              <a:t>everytime</a:t>
            </a:r>
            <a:r>
              <a:rPr lang="en-US"/>
              <a:t>, also easily result- in different result. </a:t>
            </a:r>
          </a:p>
          <a:p>
            <a:r>
              <a:rPr lang="en-US"/>
              <a:t>Skill is structured solve smaller but dedicated task , steps are more concrete and predictable .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B013C-68ED-B732-8DEC-E6707CF700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585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3D07A-F996-1881-FCFC-B162B07D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F640D-36CD-60E1-6E0F-29DD47244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11850-76AC-C100-460F-D29AD5AF9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A3A39-CC5C-AD34-BB13-2E6216BD2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13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4613-F09D-5BE9-CEAB-965A0484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83F5C-743A-03AF-EB7A-DCC0D6103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5C5AC-844F-8220-88EF-DA7FA0C86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example of cooking from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92BB2-9072-EDE1-5A6C-3129096FF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51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BE824-55D0-F121-8E51-CDC303555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79562"/>
            <a:ext cx="10668000" cy="4694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A031F-4CF3-9FA6-7A98-8072F4D0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21985"/>
            <a:ext cx="10668000" cy="38767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88937BB-78B5-85A1-6948-063637AA88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1" y="1158876"/>
            <a:ext cx="10668000" cy="22383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GB"/>
              <a:t>Subtitle can be place here</a:t>
            </a:r>
          </a:p>
        </p:txBody>
      </p:sp>
    </p:spTree>
    <p:extLst>
      <p:ext uri="{BB962C8B-B14F-4D97-AF65-F5344CB8AC3E}">
        <p14:creationId xmlns:p14="http://schemas.microsoft.com/office/powerpoint/2010/main" val="167621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E1B38-E203-1A0E-8A84-DCB92FFC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08388DE-8186-63D0-DCB2-AFBC64EA6E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1" y="1158876"/>
            <a:ext cx="10668000" cy="22383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GB"/>
              <a:t>Subtitle can be place here</a:t>
            </a:r>
          </a:p>
        </p:txBody>
      </p:sp>
    </p:spTree>
    <p:extLst>
      <p:ext uri="{BB962C8B-B14F-4D97-AF65-F5344CB8AC3E}">
        <p14:creationId xmlns:p14="http://schemas.microsoft.com/office/powerpoint/2010/main" val="361309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|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53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itle Only Gradient">
    <p:bg>
      <p:bgPr>
        <a:gradFill>
          <a:gsLst>
            <a:gs pos="75000">
              <a:schemeClr val="tx2"/>
            </a:gs>
            <a:gs pos="0">
              <a:schemeClr val="tx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green gradient&#10;&#10;Description automatically generated">
            <a:extLst>
              <a:ext uri="{FF2B5EF4-FFF2-40B4-BE49-F238E27FC236}">
                <a16:creationId xmlns:a16="http://schemas.microsoft.com/office/drawing/2014/main" id="{99CB69DE-A18D-8CDB-4AC3-97CFD699B1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237" cy="6857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6875F7-FB91-22C5-6D3E-8424F937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27DD9BA-7EDF-E7CC-1DA1-FDDE33A300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1" y="1158876"/>
            <a:ext cx="10668000" cy="22383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GB"/>
              <a:t>Subtitle can be place here</a:t>
            </a:r>
          </a:p>
        </p:txBody>
      </p:sp>
      <p:grpSp>
        <p:nvGrpSpPr>
          <p:cNvPr id="16" name="Graphic 36">
            <a:extLst>
              <a:ext uri="{FF2B5EF4-FFF2-40B4-BE49-F238E27FC236}">
                <a16:creationId xmlns:a16="http://schemas.microsoft.com/office/drawing/2014/main" id="{1AADE44B-3DA2-D7F8-E813-A450E8854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0517" y="6480810"/>
            <a:ext cx="422423" cy="178169"/>
            <a:chOff x="11131751" y="6540638"/>
            <a:chExt cx="422423" cy="178169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83DB73-76F6-6C8D-084F-A55EC6939D07}"/>
                </a:ext>
              </a:extLst>
            </p:cNvPr>
            <p:cNvSpPr/>
            <p:nvPr/>
          </p:nvSpPr>
          <p:spPr>
            <a:xfrm>
              <a:off x="11131751" y="6543058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C5107D8-178E-6AA9-8B6B-FF2D3D3864CF}"/>
                </a:ext>
              </a:extLst>
            </p:cNvPr>
            <p:cNvSpPr/>
            <p:nvPr/>
          </p:nvSpPr>
          <p:spPr>
            <a:xfrm>
              <a:off x="11132638" y="6540638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9" name="Rectangle 18" descr="Intel Confidential">
            <a:extLst>
              <a:ext uri="{FF2B5EF4-FFF2-40B4-BE49-F238E27FC236}">
                <a16:creationId xmlns:a16="http://schemas.microsoft.com/office/drawing/2014/main" id="{C5B4B902-410B-C84A-246C-9E7A85F63282}"/>
              </a:ext>
            </a:extLst>
          </p:cNvPr>
          <p:cNvSpPr/>
          <p:nvPr userDrawn="1"/>
        </p:nvSpPr>
        <p:spPr>
          <a:xfrm>
            <a:off x="10727019" y="6480810"/>
            <a:ext cx="1213795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0" name="Rectangle 19" descr="Department or Event Name">
            <a:extLst>
              <a:ext uri="{FF2B5EF4-FFF2-40B4-BE49-F238E27FC236}">
                <a16:creationId xmlns:a16="http://schemas.microsoft.com/office/drawing/2014/main" id="{CEACC04E-4311-1A06-58B0-F30655E9C3C2}"/>
              </a:ext>
            </a:extLst>
          </p:cNvPr>
          <p:cNvSpPr/>
          <p:nvPr userDrawn="1"/>
        </p:nvSpPr>
        <p:spPr>
          <a:xfrm>
            <a:off x="823793" y="648081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CCG | WSG</a:t>
            </a:r>
          </a:p>
        </p:txBody>
      </p:sp>
    </p:spTree>
    <p:extLst>
      <p:ext uri="{BB962C8B-B14F-4D97-AF65-F5344CB8AC3E}">
        <p14:creationId xmlns:p14="http://schemas.microsoft.com/office/powerpoint/2010/main" val="320898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| Empty Gradient">
    <p:bg>
      <p:bgPr>
        <a:gradFill>
          <a:gsLst>
            <a:gs pos="75000">
              <a:schemeClr val="tx2"/>
            </a:gs>
            <a:gs pos="0">
              <a:schemeClr val="tx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210AEA-3393-388E-5955-99BBC5051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" name="Graphic 36">
            <a:extLst>
              <a:ext uri="{FF2B5EF4-FFF2-40B4-BE49-F238E27FC236}">
                <a16:creationId xmlns:a16="http://schemas.microsoft.com/office/drawing/2014/main" id="{E8912039-D99D-582D-A89E-7314604C0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0517" y="6480810"/>
            <a:ext cx="422423" cy="178169"/>
            <a:chOff x="11131751" y="6540638"/>
            <a:chExt cx="422423" cy="178169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26C5810-8941-1470-693B-12A195EDB87C}"/>
                </a:ext>
              </a:extLst>
            </p:cNvPr>
            <p:cNvSpPr/>
            <p:nvPr/>
          </p:nvSpPr>
          <p:spPr>
            <a:xfrm>
              <a:off x="11131751" y="6543058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617566-BFD3-8C81-3F89-4BD3860D2422}"/>
                </a:ext>
              </a:extLst>
            </p:cNvPr>
            <p:cNvSpPr/>
            <p:nvPr/>
          </p:nvSpPr>
          <p:spPr>
            <a:xfrm>
              <a:off x="11132638" y="6540638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7" name="Rectangle 16" descr="Intel Confidential">
            <a:extLst>
              <a:ext uri="{FF2B5EF4-FFF2-40B4-BE49-F238E27FC236}">
                <a16:creationId xmlns:a16="http://schemas.microsoft.com/office/drawing/2014/main" id="{00AB5FAB-9E8F-1593-8C50-DEC8A48AEFBC}"/>
              </a:ext>
            </a:extLst>
          </p:cNvPr>
          <p:cNvSpPr/>
          <p:nvPr userDrawn="1"/>
        </p:nvSpPr>
        <p:spPr>
          <a:xfrm>
            <a:off x="10727019" y="6480810"/>
            <a:ext cx="1213795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8" name="Rectangle 17" descr="Department or Event Name">
            <a:extLst>
              <a:ext uri="{FF2B5EF4-FFF2-40B4-BE49-F238E27FC236}">
                <a16:creationId xmlns:a16="http://schemas.microsoft.com/office/drawing/2014/main" id="{EC5C6972-8D25-4C26-6BC6-0B34FAA7A2DD}"/>
              </a:ext>
            </a:extLst>
          </p:cNvPr>
          <p:cNvSpPr/>
          <p:nvPr userDrawn="1"/>
        </p:nvSpPr>
        <p:spPr>
          <a:xfrm>
            <a:off x="823793" y="648081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CCG | WSG</a:t>
            </a:r>
          </a:p>
        </p:txBody>
      </p:sp>
    </p:spTree>
    <p:extLst>
      <p:ext uri="{BB962C8B-B14F-4D97-AF65-F5344CB8AC3E}">
        <p14:creationId xmlns:p14="http://schemas.microsoft.com/office/powerpoint/2010/main" val="265065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| Empty Gradient">
    <p:bg>
      <p:bgPr>
        <a:gradFill>
          <a:gsLst>
            <a:gs pos="75000">
              <a:schemeClr val="tx2"/>
            </a:gs>
            <a:gs pos="0">
              <a:schemeClr val="tx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9EC961-B1A3-8340-9EC3-B33E28D168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2000"/>
          </a:blip>
          <a:srcRect l="17005" t="4201" r="8517" b="2132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210AEA-3393-388E-5955-99BBC50512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raphic 36">
            <a:extLst>
              <a:ext uri="{FF2B5EF4-FFF2-40B4-BE49-F238E27FC236}">
                <a16:creationId xmlns:a16="http://schemas.microsoft.com/office/drawing/2014/main" id="{9C9F1DB7-5B7D-6BCE-BAE2-E4171DD86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0517" y="6480810"/>
            <a:ext cx="422423" cy="178169"/>
            <a:chOff x="11131751" y="6540638"/>
            <a:chExt cx="422423" cy="178169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509F8F9-7CA5-A94A-29A0-E5D36F5D63F2}"/>
                </a:ext>
              </a:extLst>
            </p:cNvPr>
            <p:cNvSpPr/>
            <p:nvPr/>
          </p:nvSpPr>
          <p:spPr>
            <a:xfrm>
              <a:off x="11131751" y="6543058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4D99C4D-D2AC-6B3A-8384-153467D8B433}"/>
                </a:ext>
              </a:extLst>
            </p:cNvPr>
            <p:cNvSpPr/>
            <p:nvPr/>
          </p:nvSpPr>
          <p:spPr>
            <a:xfrm>
              <a:off x="11132638" y="6540638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 descr="Intel Confidential">
            <a:extLst>
              <a:ext uri="{FF2B5EF4-FFF2-40B4-BE49-F238E27FC236}">
                <a16:creationId xmlns:a16="http://schemas.microsoft.com/office/drawing/2014/main" id="{B9B4C433-35C2-5933-FAF9-CA94BBAE3488}"/>
              </a:ext>
            </a:extLst>
          </p:cNvPr>
          <p:cNvSpPr/>
          <p:nvPr userDrawn="1"/>
        </p:nvSpPr>
        <p:spPr>
          <a:xfrm>
            <a:off x="10727019" y="6480810"/>
            <a:ext cx="1213795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2" name="Rectangle 11" descr="Department or Event Name">
            <a:extLst>
              <a:ext uri="{FF2B5EF4-FFF2-40B4-BE49-F238E27FC236}">
                <a16:creationId xmlns:a16="http://schemas.microsoft.com/office/drawing/2014/main" id="{4F8A4CEA-F363-A1A8-BBFA-0A870A3BB4CC}"/>
              </a:ext>
            </a:extLst>
          </p:cNvPr>
          <p:cNvSpPr/>
          <p:nvPr userDrawn="1"/>
        </p:nvSpPr>
        <p:spPr>
          <a:xfrm>
            <a:off x="823793" y="648081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CCG | WSG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B8EEFCD-6F22-B71B-6952-69A9BCDF4A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0281" y="486603"/>
            <a:ext cx="5151438" cy="179319"/>
          </a:xfrm>
        </p:spPr>
        <p:txBody>
          <a:bodyPr/>
          <a:lstStyle>
            <a:lvl1pPr marL="0" algn="ctr" defTabSz="914400" rtl="0" eaLnBrk="1" latinLnBrk="0" hangingPunct="1">
              <a:defRPr lang="en-US" sz="1400" kern="1200" spc="300" dirty="0" smtClean="0">
                <a:gradFill>
                  <a:gsLst>
                    <a:gs pos="0">
                      <a:srgbClr val="A2F6E9">
                        <a:lumMod val="25000"/>
                        <a:lumOff val="75000"/>
                      </a:srgbClr>
                    </a:gs>
                    <a:gs pos="97000">
                      <a:srgbClr val="A2F6E9"/>
                    </a:gs>
                  </a:gsLst>
                  <a:lin ang="5400000" scaled="0"/>
                </a:gradFill>
                <a:latin typeface="IntelOne Display Ligh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3E8B545-597E-DDF3-8007-837938B7E3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22445" y="809625"/>
            <a:ext cx="7547112" cy="492402"/>
          </a:xfr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en-US" sz="3600" kern="1200" dirty="0" smtClean="0">
                <a:gradFill>
                  <a:gsLst>
                    <a:gs pos="0">
                      <a:srgbClr val="A2F6E9">
                        <a:lumMod val="25000"/>
                        <a:lumOff val="75000"/>
                      </a:srgbClr>
                    </a:gs>
                    <a:gs pos="97000">
                      <a:srgbClr val="A2F6E9"/>
                    </a:gs>
                  </a:gsLst>
                  <a:lin ang="5400000" scaled="0"/>
                </a:gradFill>
                <a:latin typeface="IntelOne Display Ligh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ru-RU" sz="3600" kern="1200" dirty="0">
                <a:gradFill>
                  <a:gsLst>
                    <a:gs pos="0">
                      <a:srgbClr val="A2F6E9">
                        <a:lumMod val="25000"/>
                        <a:lumOff val="75000"/>
                      </a:srgbClr>
                    </a:gs>
                    <a:gs pos="97000">
                      <a:srgbClr val="A2F6E9"/>
                    </a:gs>
                  </a:gsLst>
                  <a:lin ang="5400000" scaled="0"/>
                </a:gradFill>
                <a:latin typeface="IntelOne Display Light"/>
                <a:ea typeface="+mj-ea"/>
                <a:cs typeface="+mj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51B29EC-EBC5-A0DC-2B7E-A7403C6436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19625" y="1615107"/>
            <a:ext cx="2952750" cy="2211457"/>
          </a:xfrm>
          <a:solidFill>
            <a:srgbClr val="081520"/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577FC7E-A5F9-D49E-87F2-B0E5E0DC26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19625" y="3966126"/>
            <a:ext cx="2952750" cy="2211457"/>
          </a:xfrm>
          <a:solidFill>
            <a:srgbClr val="081520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28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| Logo">
    <p:bg>
      <p:bgPr>
        <a:gradFill>
          <a:gsLst>
            <a:gs pos="75000">
              <a:schemeClr val="tx2">
                <a:alpha val="99000"/>
              </a:schemeClr>
            </a:gs>
            <a:gs pos="0">
              <a:schemeClr val="tx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green gradient&#10;&#10;Description automatically generated">
            <a:extLst>
              <a:ext uri="{FF2B5EF4-FFF2-40B4-BE49-F238E27FC236}">
                <a16:creationId xmlns:a16="http://schemas.microsoft.com/office/drawing/2014/main" id="{DB36B1D5-BBD9-EE95-5EA3-970407B368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237" cy="6857571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06BD990-8DAE-DF35-7FCE-4F9BF52BA1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037" y="2749691"/>
            <a:ext cx="3349097" cy="135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8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997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91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80D76-07EB-7445-0F67-C3352A1E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21985"/>
            <a:ext cx="10668000" cy="3876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3F483-CBB1-E3F3-D193-62C9A97E2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79563"/>
            <a:ext cx="10668000" cy="46942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15" name="Rectangle 14" descr="Intel Confidential">
            <a:extLst>
              <a:ext uri="{FF2B5EF4-FFF2-40B4-BE49-F238E27FC236}">
                <a16:creationId xmlns:a16="http://schemas.microsoft.com/office/drawing/2014/main" id="{76401EF4-4A9F-A12A-94B2-B1A3BEEDE000}"/>
              </a:ext>
            </a:extLst>
          </p:cNvPr>
          <p:cNvSpPr/>
          <p:nvPr userDrawn="1"/>
        </p:nvSpPr>
        <p:spPr>
          <a:xfrm>
            <a:off x="10727019" y="6480810"/>
            <a:ext cx="1213795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6" name="Rectangle 15" descr="Department or Event Name">
            <a:extLst>
              <a:ext uri="{FF2B5EF4-FFF2-40B4-BE49-F238E27FC236}">
                <a16:creationId xmlns:a16="http://schemas.microsoft.com/office/drawing/2014/main" id="{04984AD7-4E2F-5FB2-EE11-32164E978DA1}"/>
              </a:ext>
            </a:extLst>
          </p:cNvPr>
          <p:cNvSpPr/>
          <p:nvPr userDrawn="1"/>
        </p:nvSpPr>
        <p:spPr>
          <a:xfrm>
            <a:off x="823793" y="648081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CCG | WSG</a:t>
            </a:r>
          </a:p>
        </p:txBody>
      </p:sp>
      <p:grpSp>
        <p:nvGrpSpPr>
          <p:cNvPr id="17" name="Graphic 36">
            <a:extLst>
              <a:ext uri="{FF2B5EF4-FFF2-40B4-BE49-F238E27FC236}">
                <a16:creationId xmlns:a16="http://schemas.microsoft.com/office/drawing/2014/main" id="{BB292152-C8BE-CE9D-32E3-F4D4BE85D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0517" y="6480810"/>
            <a:ext cx="422423" cy="178169"/>
            <a:chOff x="11131751" y="6540638"/>
            <a:chExt cx="422423" cy="178169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6E90CB7-23C8-E571-E2AA-D955431B715F}"/>
                </a:ext>
              </a:extLst>
            </p:cNvPr>
            <p:cNvSpPr/>
            <p:nvPr/>
          </p:nvSpPr>
          <p:spPr>
            <a:xfrm>
              <a:off x="11131751" y="6543058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9A1A62B-EDED-0DDF-15A6-7F4DA53EDCA3}"/>
                </a:ext>
              </a:extLst>
            </p:cNvPr>
            <p:cNvSpPr/>
            <p:nvPr/>
          </p:nvSpPr>
          <p:spPr>
            <a:xfrm>
              <a:off x="11132638" y="6540638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314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355600" indent="-177800" algn="l" defTabSz="914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Char char="§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534988" indent="-179388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System Font Regular"/>
        <a:buChar char="-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4763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>
          <a:solidFill>
            <a:schemeClr val="bg1">
              <a:alpha val="50000"/>
            </a:schemeClr>
          </a:solidFill>
          <a:latin typeface="+mn-lt"/>
          <a:ea typeface="+mn-ea"/>
          <a:cs typeface="+mn-cs"/>
        </a:defRPr>
      </a:lvl4pPr>
      <a:lvl5pPr marL="4763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600" b="0" i="0" kern="1200">
          <a:solidFill>
            <a:schemeClr val="bg1"/>
          </a:solidFill>
          <a:latin typeface="IntelOne Text Medium" panose="020B05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480">
          <p15:clr>
            <a:srgbClr val="F26B43"/>
          </p15:clr>
        </p15:guide>
        <p15:guide id="4" pos="240">
          <p15:clr>
            <a:srgbClr val="F26B43"/>
          </p15:clr>
        </p15:guide>
        <p15:guide id="5" pos="7200">
          <p15:clr>
            <a:srgbClr val="F26B43"/>
          </p15:clr>
        </p15:guide>
        <p15:guide id="6" pos="7440">
          <p15:clr>
            <a:srgbClr val="F26B43"/>
          </p15:clr>
        </p15:guide>
        <p15:guide id="7" orient="horz" pos="3952">
          <p15:clr>
            <a:srgbClr val="F26B43"/>
          </p15:clr>
        </p15:guide>
        <p15:guide id="8" orient="horz" pos="4079">
          <p15:clr>
            <a:srgbClr val="F26B43"/>
          </p15:clr>
        </p15:guide>
        <p15:guide id="10" orient="horz" pos="480">
          <p15:clr>
            <a:srgbClr val="F26B43"/>
          </p15:clr>
        </p15:guide>
        <p15:guide id="11" orient="horz" pos="745">
          <p15:clr>
            <a:srgbClr val="F26B43"/>
          </p15:clr>
        </p15:guide>
        <p15:guide id="12" orient="horz" pos="995">
          <p15:clr>
            <a:srgbClr val="F26B43"/>
          </p15:clr>
        </p15:guide>
        <p15:guide id="13" orient="horz" pos="367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50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307526-0A3E-BBBF-07C3-501974892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21" y="2989501"/>
            <a:ext cx="10668000" cy="387678"/>
          </a:xfrm>
        </p:spPr>
        <p:txBody>
          <a:bodyPr/>
          <a:lstStyle/>
          <a:p>
            <a:r>
              <a:rPr lang="en-US" sz="4000"/>
              <a:t>AI debug new structure : AI agent Skill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7BEC0-E20B-2943-AA5F-0E75FE828A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9921" y="3674660"/>
            <a:ext cx="10668000" cy="223837"/>
          </a:xfrm>
        </p:spPr>
        <p:txBody>
          <a:bodyPr/>
          <a:lstStyle/>
          <a:p>
            <a:r>
              <a:rPr lang="en-US"/>
              <a:t>Feb 5, 2026</a:t>
            </a:r>
          </a:p>
        </p:txBody>
      </p:sp>
    </p:spTree>
    <p:extLst>
      <p:ext uri="{BB962C8B-B14F-4D97-AF65-F5344CB8AC3E}">
        <p14:creationId xmlns:p14="http://schemas.microsoft.com/office/powerpoint/2010/main" val="238447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4453-EA31-639F-DE91-138272CF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Previous method of AI debug triage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B79A4-8A9C-CB29-DD6A-4450896E8754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Chatbot allow user to query the timing of log  -- but mostly AI cannot answer it  right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Problem</a:t>
            </a:r>
            <a:r>
              <a:rPr lang="en-US" sz="1800"/>
              <a:t>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/>
              <a:t>AI don’t’ know what is correct flow,  how to identify issue ?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/>
              <a:t>prompt manually generated , too targeted to certain issue. Can only used once .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/>
              <a:t>Current filter is  static ,  but in order to identify issue , actually we need to expand the filter in runtime to check for more Info – For example , we open CNCT first  , then we need Platform , or LAR even more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How to solve it </a:t>
            </a:r>
            <a:r>
              <a:rPr lang="en-US" sz="1800"/>
              <a:t>.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sz="1800" b="1"/>
              <a:t>Smarter</a:t>
            </a:r>
            <a:r>
              <a:rPr lang="en-US"/>
              <a:t> - &gt; Use Skill  - Let AI decide how to solve it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sz="1800" b="1"/>
              <a:t>Dynamic Target </a:t>
            </a:r>
            <a:r>
              <a:rPr lang="en-US"/>
              <a:t>-&gt;Filter selection shall not be static – AI shall be able to iterative add filter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sz="1800" b="1"/>
              <a:t>Focus </a:t>
            </a:r>
            <a:r>
              <a:rPr lang="en-US"/>
              <a:t>-&gt; The right log shall be trimmed , remove timestamp , MAC address etc. AI used this to generate new prompt , or template</a:t>
            </a:r>
          </a:p>
        </p:txBody>
      </p:sp>
    </p:spTree>
    <p:extLst>
      <p:ext uri="{BB962C8B-B14F-4D97-AF65-F5344CB8AC3E}">
        <p14:creationId xmlns:p14="http://schemas.microsoft.com/office/powerpoint/2010/main" val="175050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9B1AC-C7A8-F934-E77A-825502F7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E231804-E476-67DE-D37A-CD6BA428EE7B}"/>
              </a:ext>
            </a:extLst>
          </p:cNvPr>
          <p:cNvSpPr/>
          <p:nvPr/>
        </p:nvSpPr>
        <p:spPr>
          <a:xfrm>
            <a:off x="812800" y="2644974"/>
            <a:ext cx="5130800" cy="2186781"/>
          </a:xfrm>
          <a:prstGeom prst="roundRect">
            <a:avLst>
              <a:gd name="adj" fmla="val 1338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6DA6DB-E57E-0C7B-7B7B-43D6A2728723}"/>
              </a:ext>
            </a:extLst>
          </p:cNvPr>
          <p:cNvSpPr/>
          <p:nvPr/>
        </p:nvSpPr>
        <p:spPr>
          <a:xfrm>
            <a:off x="6248400" y="2644974"/>
            <a:ext cx="5130800" cy="2186781"/>
          </a:xfrm>
          <a:prstGeom prst="roundRect">
            <a:avLst>
              <a:gd name="adj" fmla="val 1338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3B517A-0F9F-1FCF-EB13-CA60C4FB5DC8}"/>
              </a:ext>
            </a:extLst>
          </p:cNvPr>
          <p:cNvSpPr/>
          <p:nvPr/>
        </p:nvSpPr>
        <p:spPr>
          <a:xfrm>
            <a:off x="812800" y="5136556"/>
            <a:ext cx="10566400" cy="904081"/>
          </a:xfrm>
          <a:prstGeom prst="roundRect">
            <a:avLst>
              <a:gd name="adj" fmla="val 323652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3896100-9203-8F07-CEC0-C5930240E318}"/>
              </a:ext>
            </a:extLst>
          </p:cNvPr>
          <p:cNvSpPr/>
          <p:nvPr/>
        </p:nvSpPr>
        <p:spPr>
          <a:xfrm>
            <a:off x="812800" y="1425773"/>
            <a:ext cx="10777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is an AI agent skill?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09AB5FA-87A9-5FA6-2B7E-9459E4B9F7A7}"/>
              </a:ext>
            </a:extLst>
          </p:cNvPr>
          <p:cNvSpPr/>
          <p:nvPr/>
        </p:nvSpPr>
        <p:spPr>
          <a:xfrm>
            <a:off x="1087041" y="2919215"/>
            <a:ext cx="45823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prompt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a one-time instruction for the model.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E8A2D24-945B-EFEE-AB08-7CBB6DF3DA9D}"/>
              </a:ext>
            </a:extLst>
          </p:cNvPr>
          <p:cNvSpPr/>
          <p:nvPr/>
        </p:nvSpPr>
        <p:spPr>
          <a:xfrm>
            <a:off x="1087040" y="3947915"/>
            <a:ext cx="46739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tells the model what to do right now.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074427-F259-ED52-C7E1-427BB3B162BE}"/>
              </a:ext>
            </a:extLst>
          </p:cNvPr>
          <p:cNvSpPr/>
          <p:nvPr/>
        </p:nvSpPr>
        <p:spPr>
          <a:xfrm>
            <a:off x="6522641" y="2919215"/>
            <a:ext cx="45823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skill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a reusable package for a specific task.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61B091-140D-0B4F-4427-86FFCD8F393B}"/>
              </a:ext>
            </a:extLst>
          </p:cNvPr>
          <p:cNvSpPr/>
          <p:nvPr/>
        </p:nvSpPr>
        <p:spPr>
          <a:xfrm>
            <a:off x="6522641" y="3947915"/>
            <a:ext cx="458231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can include instructions, rules, examples, and tools.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C0AB2B5-6908-91FA-8E7F-A9578547F03A}"/>
              </a:ext>
            </a:extLst>
          </p:cNvPr>
          <p:cNvSpPr/>
          <p:nvPr/>
        </p:nvSpPr>
        <p:spPr>
          <a:xfrm>
            <a:off x="1087040" y="5410795"/>
            <a:ext cx="1021827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 idea: a prompt is a request, but a skill is a repeatable way of working.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84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3EBF4-C385-497B-9B15-A5270A08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DCE01E1-C5CA-DAD6-F212-E8700B38E9F6}"/>
              </a:ext>
            </a:extLst>
          </p:cNvPr>
          <p:cNvSpPr/>
          <p:nvPr/>
        </p:nvSpPr>
        <p:spPr>
          <a:xfrm>
            <a:off x="803870" y="1052315"/>
            <a:ext cx="4216400" cy="3748881"/>
          </a:xfrm>
          <a:prstGeom prst="roundRect">
            <a:avLst>
              <a:gd name="adj" fmla="val 78052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D3E646-4D7B-DA36-D579-216116EA6FD5}"/>
              </a:ext>
            </a:extLst>
          </p:cNvPr>
          <p:cNvSpPr/>
          <p:nvPr/>
        </p:nvSpPr>
        <p:spPr>
          <a:xfrm>
            <a:off x="6836450" y="846148"/>
            <a:ext cx="4216400" cy="3748881"/>
          </a:xfrm>
          <a:prstGeom prst="roundRect">
            <a:avLst>
              <a:gd name="adj" fmla="val 78052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291E8C-0F4D-F465-4F50-4362A278F051}"/>
              </a:ext>
            </a:extLst>
          </p:cNvPr>
          <p:cNvSpPr/>
          <p:nvPr/>
        </p:nvSpPr>
        <p:spPr>
          <a:xfrm>
            <a:off x="859536" y="217498"/>
            <a:ext cx="10777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Prompt vs Skill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176554-CFCD-694D-A382-C3867CA5F06E}"/>
              </a:ext>
            </a:extLst>
          </p:cNvPr>
          <p:cNvSpPr/>
          <p:nvPr/>
        </p:nvSpPr>
        <p:spPr>
          <a:xfrm>
            <a:off x="1078110" y="1326555"/>
            <a:ext cx="374127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Prompt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595937-82BD-30B2-2323-DD7B97F9FBF4}"/>
              </a:ext>
            </a:extLst>
          </p:cNvPr>
          <p:cNvSpPr/>
          <p:nvPr/>
        </p:nvSpPr>
        <p:spPr>
          <a:xfrm>
            <a:off x="1078111" y="1936155"/>
            <a:ext cx="3667919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Usually short and direct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Solves one request at a time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Easy to write, easy to forget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Quality depends on each wording</a:t>
            </a: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 : Tell a beginner what to do , step by step</a:t>
            </a: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3983FF-7E35-8FB7-0846-F69B3F41114F}"/>
              </a:ext>
            </a:extLst>
          </p:cNvPr>
          <p:cNvSpPr/>
          <p:nvPr/>
        </p:nvSpPr>
        <p:spPr>
          <a:xfrm>
            <a:off x="5151120" y="2539405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121917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VS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327D4C2-BA74-C269-2576-101D5061397C}"/>
              </a:ext>
            </a:extLst>
          </p:cNvPr>
          <p:cNvSpPr/>
          <p:nvPr/>
        </p:nvSpPr>
        <p:spPr>
          <a:xfrm>
            <a:off x="7110690" y="1120388"/>
            <a:ext cx="374127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Skill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467C611-FC45-D781-CC47-F8CE4437B683}"/>
              </a:ext>
            </a:extLst>
          </p:cNvPr>
          <p:cNvSpPr/>
          <p:nvPr/>
        </p:nvSpPr>
        <p:spPr>
          <a:xfrm>
            <a:off x="7110691" y="1729988"/>
            <a:ext cx="3667919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Structured for repeated use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Solves one class of tasks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include steps and constraints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More stable and easier to scale</a:t>
            </a: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US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</a:rPr>
              <a:t>Example: </a:t>
            </a:r>
            <a:r>
              <a:rPr lang="en-US" altLang="zh-TW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</a:rPr>
              <a:t>Filled in all knowledge , let Experience RD decide how to solve the problem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AutoShape 2" descr=" (由 AI 生成)">
            <a:extLst>
              <a:ext uri="{FF2B5EF4-FFF2-40B4-BE49-F238E27FC236}">
                <a16:creationId xmlns:a16="http://schemas.microsoft.com/office/drawing/2014/main" id="{B4378D00-7347-60FF-0537-8FB8A06A8D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ACAF72-0931-8EB0-10A9-8F6A4BE66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776" y="4193715"/>
            <a:ext cx="2212736" cy="24483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B85007-DF9B-60B2-81D9-522043E9F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673" y="4193715"/>
            <a:ext cx="2793309" cy="244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8544E-8125-8914-EE4E-FAEBCF12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1B7D6E5-8965-9E0F-4535-FF538F75DB21}"/>
              </a:ext>
            </a:extLst>
          </p:cNvPr>
          <p:cNvSpPr/>
          <p:nvPr/>
        </p:nvSpPr>
        <p:spPr>
          <a:xfrm>
            <a:off x="553237" y="2011165"/>
            <a:ext cx="3318867" cy="2580481"/>
          </a:xfrm>
          <a:prstGeom prst="roundRect">
            <a:avLst>
              <a:gd name="adj" fmla="val 11339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F84D44-F097-D1A7-EFF1-FB85E074FD78}"/>
              </a:ext>
            </a:extLst>
          </p:cNvPr>
          <p:cNvSpPr/>
          <p:nvPr/>
        </p:nvSpPr>
        <p:spPr>
          <a:xfrm>
            <a:off x="4176904" y="2011165"/>
            <a:ext cx="3318867" cy="2580481"/>
          </a:xfrm>
          <a:prstGeom prst="roundRect">
            <a:avLst>
              <a:gd name="adj" fmla="val 11339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F97339-90D9-92A5-EE10-94F3C5611E2C}"/>
              </a:ext>
            </a:extLst>
          </p:cNvPr>
          <p:cNvSpPr/>
          <p:nvPr/>
        </p:nvSpPr>
        <p:spPr>
          <a:xfrm>
            <a:off x="7800573" y="2011165"/>
            <a:ext cx="3319065" cy="2580481"/>
          </a:xfrm>
          <a:prstGeom prst="roundRect">
            <a:avLst>
              <a:gd name="adj" fmla="val 11339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DDA82A-A05D-C4EA-9365-03CAF3772C55}"/>
              </a:ext>
            </a:extLst>
          </p:cNvPr>
          <p:cNvSpPr/>
          <p:nvPr/>
        </p:nvSpPr>
        <p:spPr>
          <a:xfrm>
            <a:off x="812800" y="588764"/>
            <a:ext cx="10777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is inside a skill?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2693D5-977C-9606-E4BE-CB23EE167E2C}"/>
              </a:ext>
            </a:extLst>
          </p:cNvPr>
          <p:cNvSpPr/>
          <p:nvPr/>
        </p:nvSpPr>
        <p:spPr>
          <a:xfrm>
            <a:off x="827478" y="2285405"/>
            <a:ext cx="282579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📝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0C63A5F-E5AB-0E55-FBF3-32C8E1916C7F}"/>
              </a:ext>
            </a:extLst>
          </p:cNvPr>
          <p:cNvSpPr/>
          <p:nvPr/>
        </p:nvSpPr>
        <p:spPr>
          <a:xfrm>
            <a:off x="827478" y="2945805"/>
            <a:ext cx="28257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Instructions &amp; Description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11CB2A4-2AB2-5641-D088-60A416E3F8DD}"/>
              </a:ext>
            </a:extLst>
          </p:cNvPr>
          <p:cNvSpPr/>
          <p:nvPr/>
        </p:nvSpPr>
        <p:spPr>
          <a:xfrm>
            <a:off x="827478" y="3403005"/>
            <a:ext cx="27703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this </a:t>
            </a:r>
            <a:r>
              <a:rPr lang="en-US" sz="160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Skill ,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to do</a:t>
            </a:r>
            <a:r>
              <a:rPr lang="en-US" sz="160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&amp; Avoid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what output to return.</a:t>
            </a:r>
          </a:p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EF131B-D2BC-2D7E-D89F-7BE5C3EEF867}"/>
              </a:ext>
            </a:extLst>
          </p:cNvPr>
          <p:cNvSpPr/>
          <p:nvPr/>
        </p:nvSpPr>
        <p:spPr>
          <a:xfrm>
            <a:off x="4451146" y="2285405"/>
            <a:ext cx="282579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🧭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A391450-76A8-29D1-6DB9-749863A30379}"/>
              </a:ext>
            </a:extLst>
          </p:cNvPr>
          <p:cNvSpPr/>
          <p:nvPr/>
        </p:nvSpPr>
        <p:spPr>
          <a:xfrm>
            <a:off x="4451146" y="2945805"/>
            <a:ext cx="28257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Rules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D6CD5F5-C516-684E-9785-F4369BB53EA8}"/>
              </a:ext>
            </a:extLst>
          </p:cNvPr>
          <p:cNvSpPr/>
          <p:nvPr/>
        </p:nvSpPr>
        <p:spPr>
          <a:xfrm>
            <a:off x="4451146" y="3403005"/>
            <a:ext cx="277038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logic, constraints, and quality checks for the task.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71E7B8B-2170-90D9-838E-16333384FD31}"/>
              </a:ext>
            </a:extLst>
          </p:cNvPr>
          <p:cNvSpPr/>
          <p:nvPr/>
        </p:nvSpPr>
        <p:spPr>
          <a:xfrm>
            <a:off x="8074812" y="2285405"/>
            <a:ext cx="282599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🧰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56E6CD0-8A59-A36A-E717-938A8F074FE0}"/>
              </a:ext>
            </a:extLst>
          </p:cNvPr>
          <p:cNvSpPr/>
          <p:nvPr/>
        </p:nvSpPr>
        <p:spPr>
          <a:xfrm>
            <a:off x="8074812" y="2945805"/>
            <a:ext cx="282599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2B81836-8177-B348-1A5B-9C4845D3E714}"/>
              </a:ext>
            </a:extLst>
          </p:cNvPr>
          <p:cNvSpPr/>
          <p:nvPr/>
        </p:nvSpPr>
        <p:spPr>
          <a:xfrm>
            <a:off x="8074812" y="3403005"/>
            <a:ext cx="2770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Examples, references, scripts, or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tools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used by the agent.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20F6A03-2285-9340-1630-65C9D60EB7F3}"/>
              </a:ext>
            </a:extLst>
          </p:cNvPr>
          <p:cNvSpPr/>
          <p:nvPr/>
        </p:nvSpPr>
        <p:spPr>
          <a:xfrm>
            <a:off x="1564432" y="4688086"/>
            <a:ext cx="28257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</a:rPr>
              <a:t>The Menu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0A10ED5-FE39-A68F-DCEC-A7DD074E2D44}"/>
              </a:ext>
            </a:extLst>
          </p:cNvPr>
          <p:cNvSpPr/>
          <p:nvPr/>
        </p:nvSpPr>
        <p:spPr>
          <a:xfrm>
            <a:off x="5249019" y="4703366"/>
            <a:ext cx="28257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</a:rPr>
              <a:t>The Recipe 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C958CDF-F06E-0748-FEB8-295D655578CA}"/>
              </a:ext>
            </a:extLst>
          </p:cNvPr>
          <p:cNvSpPr/>
          <p:nvPr/>
        </p:nvSpPr>
        <p:spPr>
          <a:xfrm>
            <a:off x="8764735" y="4703366"/>
            <a:ext cx="28257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</a:rPr>
              <a:t>The Ingredients 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077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6D021-A2C0-1B59-7439-760ED85B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E841FCF-9CE7-4E34-DE42-9B8415A59875}"/>
              </a:ext>
            </a:extLst>
          </p:cNvPr>
          <p:cNvSpPr/>
          <p:nvPr/>
        </p:nvSpPr>
        <p:spPr>
          <a:xfrm>
            <a:off x="628650" y="1685132"/>
            <a:ext cx="10566400" cy="2163564"/>
          </a:xfrm>
          <a:prstGeom prst="roundRect">
            <a:avLst>
              <a:gd name="adj" fmla="val 13524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CE60F9-FFC0-E13F-3C9E-432B0570137C}"/>
              </a:ext>
            </a:extLst>
          </p:cNvPr>
          <p:cNvSpPr/>
          <p:nvPr/>
        </p:nvSpPr>
        <p:spPr>
          <a:xfrm>
            <a:off x="902891" y="1959372"/>
            <a:ext cx="2689820" cy="726281"/>
          </a:xfrm>
          <a:prstGeom prst="roundRect">
            <a:avLst>
              <a:gd name="adj" fmla="val 3021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03200" tIns="203200" rIns="203200" bIns="203200" rtlCol="0" anchor="t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asks for a task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0A36CB-2195-6F9D-0208-170D7398E1B4}"/>
              </a:ext>
            </a:extLst>
          </p:cNvPr>
          <p:cNvSpPr/>
          <p:nvPr/>
        </p:nvSpPr>
        <p:spPr>
          <a:xfrm>
            <a:off x="4421307" y="1921329"/>
            <a:ext cx="4254165" cy="851692"/>
          </a:xfrm>
          <a:prstGeom prst="roundRect">
            <a:avLst>
              <a:gd name="adj" fmla="val 3021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03200" tIns="203200" rIns="203200" bIns="203200" rtlCol="0" anchor="t">
            <a:noAutofit/>
          </a:bodyPr>
          <a:lstStyle/>
          <a:p>
            <a:pPr algn="ctr" defTabSz="1219170">
              <a:lnSpc>
                <a:spcPct val="120000"/>
              </a:lnSpc>
            </a:pPr>
            <a:r>
              <a:rPr lang="en-US" sz="140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</a:rPr>
              <a:t>Agent checks available skills , select needed skills</a:t>
            </a:r>
          </a:p>
          <a:p>
            <a:pPr algn="ctr" defTabSz="1219170">
              <a:lnSpc>
                <a:spcPct val="120000"/>
              </a:lnSpc>
            </a:pPr>
            <a:endParaRPr lang="en-US" sz="1200">
              <a:solidFill>
                <a:srgbClr val="DBE4F0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6A41C2-F988-E000-8118-59CED22CCAE0}"/>
              </a:ext>
            </a:extLst>
          </p:cNvPr>
          <p:cNvSpPr/>
          <p:nvPr/>
        </p:nvSpPr>
        <p:spPr>
          <a:xfrm>
            <a:off x="902890" y="2848175"/>
            <a:ext cx="3727729" cy="726281"/>
          </a:xfrm>
          <a:prstGeom prst="roundRect">
            <a:avLst>
              <a:gd name="adj" fmla="val 3021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03200" tIns="203200" rIns="203200" bIns="203200" rtlCol="0" anchor="t">
            <a:noAutofit/>
          </a:bodyPr>
          <a:lstStyle/>
          <a:p>
            <a:pPr algn="ctr" defTabSz="1219170">
              <a:lnSpc>
                <a:spcPct val="120000"/>
              </a:lnSpc>
            </a:pPr>
            <a:r>
              <a:rPr lang="en-US" sz="140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</a:rPr>
              <a:t>Loads the best skill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98804E2-0E01-1703-441E-417AFE00E216}"/>
              </a:ext>
            </a:extLst>
          </p:cNvPr>
          <p:cNvSpPr/>
          <p:nvPr/>
        </p:nvSpPr>
        <p:spPr>
          <a:xfrm>
            <a:off x="5142273" y="2889650"/>
            <a:ext cx="3091855" cy="726281"/>
          </a:xfrm>
          <a:prstGeom prst="roundRect">
            <a:avLst>
              <a:gd name="adj" fmla="val 3021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03200" tIns="203200" rIns="203200" bIns="203200" rtlCol="0" anchor="t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Follows steps and rules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A066A6-B3A1-2D6F-87E4-61831B14C975}"/>
              </a:ext>
            </a:extLst>
          </p:cNvPr>
          <p:cNvSpPr/>
          <p:nvPr/>
        </p:nvSpPr>
        <p:spPr>
          <a:xfrm>
            <a:off x="8784630" y="2848175"/>
            <a:ext cx="2136180" cy="726281"/>
          </a:xfrm>
          <a:prstGeom prst="roundRect">
            <a:avLst>
              <a:gd name="adj" fmla="val 3021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03200" tIns="203200" rIns="203200" bIns="203200" rtlCol="0" anchor="t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Returns output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A4E2F83-2A28-D116-E94D-DE219170F045}"/>
              </a:ext>
            </a:extLst>
          </p:cNvPr>
          <p:cNvSpPr/>
          <p:nvPr/>
        </p:nvSpPr>
        <p:spPr>
          <a:xfrm>
            <a:off x="628650" y="4085039"/>
            <a:ext cx="5130800" cy="2437804"/>
          </a:xfrm>
          <a:prstGeom prst="roundRect">
            <a:avLst>
              <a:gd name="adj" fmla="val 18115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25E5B41-78C0-87B7-E0C3-F21532ACC217}"/>
              </a:ext>
            </a:extLst>
          </p:cNvPr>
          <p:cNvSpPr/>
          <p:nvPr/>
        </p:nvSpPr>
        <p:spPr>
          <a:xfrm>
            <a:off x="5916415" y="4153496"/>
            <a:ext cx="5187950" cy="2210989"/>
          </a:xfrm>
          <a:prstGeom prst="roundRect">
            <a:avLst>
              <a:gd name="adj" fmla="val 18115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33175B4-06F8-A829-23DA-03E39E6BD3F8}"/>
              </a:ext>
            </a:extLst>
          </p:cNvPr>
          <p:cNvSpPr/>
          <p:nvPr/>
        </p:nvSpPr>
        <p:spPr>
          <a:xfrm>
            <a:off x="812800" y="493515"/>
            <a:ext cx="10777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How the agent uses a skill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4C42F8-D27C-7B90-894B-8C302789F053}"/>
              </a:ext>
            </a:extLst>
          </p:cNvPr>
          <p:cNvSpPr/>
          <p:nvPr/>
        </p:nvSpPr>
        <p:spPr>
          <a:xfrm>
            <a:off x="3755232" y="2117130"/>
            <a:ext cx="225885" cy="41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0" b="0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kumimoji="0" lang="en-US" sz="20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984B382-064E-ED58-0526-076DC7043453}"/>
              </a:ext>
            </a:extLst>
          </p:cNvPr>
          <p:cNvSpPr/>
          <p:nvPr/>
        </p:nvSpPr>
        <p:spPr>
          <a:xfrm>
            <a:off x="9420789" y="2057107"/>
            <a:ext cx="225885" cy="41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0" b="0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kumimoji="0" lang="en-US" sz="20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1FD787-47FC-29DE-6B66-0FC01956733A}"/>
              </a:ext>
            </a:extLst>
          </p:cNvPr>
          <p:cNvSpPr/>
          <p:nvPr/>
        </p:nvSpPr>
        <p:spPr>
          <a:xfrm>
            <a:off x="4680996" y="3047407"/>
            <a:ext cx="225885" cy="41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0" b="0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kumimoji="0" lang="en-US" sz="20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7B46EC6-DAFE-6DFD-85F0-EA8B024F7635}"/>
              </a:ext>
            </a:extLst>
          </p:cNvPr>
          <p:cNvSpPr/>
          <p:nvPr/>
        </p:nvSpPr>
        <p:spPr>
          <a:xfrm>
            <a:off x="8284505" y="3031528"/>
            <a:ext cx="225885" cy="41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0" b="0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kumimoji="0" lang="en-US" sz="20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2CC94DC-8744-5002-2D75-22B5D62C644B}"/>
              </a:ext>
            </a:extLst>
          </p:cNvPr>
          <p:cNvSpPr/>
          <p:nvPr/>
        </p:nvSpPr>
        <p:spPr>
          <a:xfrm>
            <a:off x="1085485" y="4401942"/>
            <a:ext cx="467396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With only a prompt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99C8E8A-1A02-572D-4E45-F025E49813FE}"/>
              </a:ext>
            </a:extLst>
          </p:cNvPr>
          <p:cNvSpPr/>
          <p:nvPr/>
        </p:nvSpPr>
        <p:spPr>
          <a:xfrm>
            <a:off x="1085486" y="4859142"/>
            <a:ext cx="458231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agent may need the same guidance again and again.</a:t>
            </a:r>
            <a:r>
              <a:rPr lang="en-US"/>
              <a:t> </a:t>
            </a:r>
          </a:p>
          <a:p>
            <a:r>
              <a:rPr lang="en-US" sz="1400">
                <a:solidFill>
                  <a:schemeClr val="bg1"/>
                </a:solidFill>
              </a:rPr>
              <a:t>You might ask: “Tell me how to make soup dumplings.”</a:t>
            </a:r>
          </a:p>
          <a:p>
            <a:r>
              <a:rPr lang="en-US" sz="1400">
                <a:solidFill>
                  <a:schemeClr val="bg1"/>
                </a:solidFill>
              </a:rPr>
              <a:t>The answer may be useful, but the level of detail, order, and quality can change each time.</a:t>
            </a:r>
          </a:p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63F9AD1-E27B-540A-AE65-94CF05493251}"/>
              </a:ext>
            </a:extLst>
          </p:cNvPr>
          <p:cNvSpPr/>
          <p:nvPr/>
        </p:nvSpPr>
        <p:spPr>
          <a:xfrm>
            <a:off x="6338490" y="4427735"/>
            <a:ext cx="467396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With a skill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4427668-B4C3-3C77-D191-781201BF8166}"/>
              </a:ext>
            </a:extLst>
          </p:cNvPr>
          <p:cNvSpPr/>
          <p:nvPr/>
        </p:nvSpPr>
        <p:spPr>
          <a:xfrm>
            <a:off x="6338491" y="4884935"/>
            <a:ext cx="458231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agent can reuse the same proven method when the task appears again. </a:t>
            </a:r>
            <a:r>
              <a:rPr lang="en-US" sz="1400">
                <a:solidFill>
                  <a:schemeClr val="bg1"/>
                </a:solidFill>
              </a:rPr>
              <a:t>The skill can enforce the same workflow every time.</a:t>
            </a:r>
          </a:p>
          <a:p>
            <a:r>
              <a:rPr lang="en-US" sz="1400">
                <a:solidFill>
                  <a:schemeClr val="bg1"/>
                </a:solidFill>
              </a:rPr>
              <a:t>For example: make broth jelly, prepare dough, mix filling, wrap dumplings, steam, then serve with ginger vinegar.</a:t>
            </a:r>
          </a:p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68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BA3C-3D5A-98CC-18B9-B33D2704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C7D02-FFBB-F296-518A-72361B41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Current design for AI Agent debug flow </a:t>
            </a:r>
            <a:r>
              <a:rPr lang="en-US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D0E35C-0505-46FC-BB83-A9092E7CF60F}"/>
              </a:ext>
            </a:extLst>
          </p:cNvPr>
          <p:cNvSpPr/>
          <p:nvPr/>
        </p:nvSpPr>
        <p:spPr>
          <a:xfrm>
            <a:off x="942308" y="2229870"/>
            <a:ext cx="1580186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r>
              <a:rPr lang="en-US" sz="1200"/>
              <a:t>Issue description /timing retrieval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B06A73-1B6E-3638-6F44-7580B4BE6271}"/>
              </a:ext>
            </a:extLst>
          </p:cNvPr>
          <p:cNvSpPr/>
          <p:nvPr/>
        </p:nvSpPr>
        <p:spPr>
          <a:xfrm>
            <a:off x="9285515" y="2240864"/>
            <a:ext cx="1492250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  Confidence &amp; Refine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AF14E-39A4-4F91-B2E0-C0F2EDEC46B4}"/>
              </a:ext>
            </a:extLst>
          </p:cNvPr>
          <p:cNvSpPr/>
          <p:nvPr/>
        </p:nvSpPr>
        <p:spPr>
          <a:xfrm>
            <a:off x="6533187" y="2240864"/>
            <a:ext cx="1492250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  Filter agent tools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51049-85B3-68CD-C912-18F4334DC20B}"/>
              </a:ext>
            </a:extLst>
          </p:cNvPr>
          <p:cNvSpPr txBox="1"/>
          <p:nvPr/>
        </p:nvSpPr>
        <p:spPr>
          <a:xfrm>
            <a:off x="3694849" y="2948105"/>
            <a:ext cx="213337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Read issue description and decide what skill sets to choose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Iterate over 6 times until submit final reports    </a:t>
            </a:r>
            <a:endParaRPr lang="en-US" sz="1200"/>
          </a:p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DA4F30-60E8-F4A5-6318-192CE86B3E03}"/>
              </a:ext>
            </a:extLst>
          </p:cNvPr>
          <p:cNvSpPr/>
          <p:nvPr/>
        </p:nvSpPr>
        <p:spPr>
          <a:xfrm>
            <a:off x="4019916" y="2274520"/>
            <a:ext cx="1580186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AI agent orchestrator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55C41-E5F0-0B0B-8454-B37FB8F09434}"/>
              </a:ext>
            </a:extLst>
          </p:cNvPr>
          <p:cNvSpPr txBox="1"/>
          <p:nvPr/>
        </p:nvSpPr>
        <p:spPr>
          <a:xfrm>
            <a:off x="852743" y="2923109"/>
            <a:ext cx="213337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Use IPS description to identify initial problem statement and issue timing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Identify issue time help AI agent focus on analysis, also save tokens . </a:t>
            </a:r>
            <a:endParaRPr lang="en-US" sz="1200"/>
          </a:p>
          <a:p>
            <a:endParaRPr lang="en-US"/>
          </a:p>
        </p:txBody>
      </p:sp>
      <p:sp>
        <p:nvSpPr>
          <p:cNvPr id="14" name="Arrow: Curved Up 13">
            <a:extLst>
              <a:ext uri="{FF2B5EF4-FFF2-40B4-BE49-F238E27FC236}">
                <a16:creationId xmlns:a16="http://schemas.microsoft.com/office/drawing/2014/main" id="{B10F52C8-F960-65CB-E275-AEAF6B930DB8}"/>
              </a:ext>
            </a:extLst>
          </p:cNvPr>
          <p:cNvSpPr/>
          <p:nvPr/>
        </p:nvSpPr>
        <p:spPr>
          <a:xfrm flipH="1" flipV="1">
            <a:off x="4906903" y="1569832"/>
            <a:ext cx="2339750" cy="615950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F9D0B-E0D3-7290-6D2D-1C9B0614B644}"/>
              </a:ext>
            </a:extLst>
          </p:cNvPr>
          <p:cNvSpPr txBox="1"/>
          <p:nvPr/>
        </p:nvSpPr>
        <p:spPr>
          <a:xfrm>
            <a:off x="4615884" y="4884490"/>
            <a:ext cx="34853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Call the Tools/Skills needed to complete the tasks </a:t>
            </a:r>
            <a:endParaRPr lang="en-US" sz="1200"/>
          </a:p>
          <a:p>
            <a:endParaRPr lang="en-US"/>
          </a:p>
        </p:txBody>
      </p:sp>
      <p:sp>
        <p:nvSpPr>
          <p:cNvPr id="16" name="Arrow: Curved Up 15">
            <a:extLst>
              <a:ext uri="{FF2B5EF4-FFF2-40B4-BE49-F238E27FC236}">
                <a16:creationId xmlns:a16="http://schemas.microsoft.com/office/drawing/2014/main" id="{AE09D622-0853-08A1-2256-0F0E4FE56DCD}"/>
              </a:ext>
            </a:extLst>
          </p:cNvPr>
          <p:cNvSpPr/>
          <p:nvPr/>
        </p:nvSpPr>
        <p:spPr>
          <a:xfrm>
            <a:off x="5077220" y="4018795"/>
            <a:ext cx="2393950" cy="615950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511268-0E62-A7EC-9BF6-0FF760428FEC}"/>
              </a:ext>
            </a:extLst>
          </p:cNvPr>
          <p:cNvSpPr txBox="1"/>
          <p:nvPr/>
        </p:nvSpPr>
        <p:spPr>
          <a:xfrm>
            <a:off x="4446528" y="1148337"/>
            <a:ext cx="3485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Analysis result of Filtered logs , with history appended  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23137E-6D4C-12C2-BB7C-338BBE905CB5}"/>
              </a:ext>
            </a:extLst>
          </p:cNvPr>
          <p:cNvSpPr txBox="1"/>
          <p:nvPr/>
        </p:nvSpPr>
        <p:spPr>
          <a:xfrm>
            <a:off x="9218840" y="2948105"/>
            <a:ext cx="18192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Guard the output quality of the issue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Refine answers if meet the Question itself.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121526-7716-C548-4BF7-75C03FF0118D}"/>
              </a:ext>
            </a:extLst>
          </p:cNvPr>
          <p:cNvSpPr/>
          <p:nvPr/>
        </p:nvSpPr>
        <p:spPr>
          <a:xfrm>
            <a:off x="3995114" y="5457830"/>
            <a:ext cx="1580186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Skill Sets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4B0A42-B331-4089-C6C8-9AB3F256EB14}"/>
              </a:ext>
            </a:extLst>
          </p:cNvPr>
          <p:cNvSpPr txBox="1"/>
          <p:nvPr/>
        </p:nvSpPr>
        <p:spPr>
          <a:xfrm>
            <a:off x="5798799" y="5369092"/>
            <a:ext cx="3159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Written as .md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Description of what problem this skill can solve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What logs to read (Filter)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How to read it – knowledge 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80A7D-868F-CFCB-EECA-BD748BDB2F8C}"/>
              </a:ext>
            </a:extLst>
          </p:cNvPr>
          <p:cNvSpPr txBox="1"/>
          <p:nvPr/>
        </p:nvSpPr>
        <p:spPr>
          <a:xfrm>
            <a:off x="6476036" y="2890470"/>
            <a:ext cx="22806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Apply filter according to skill set 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Provided analysis result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Each time AI can use 2~3 Skill sets </a:t>
            </a:r>
            <a:endParaRPr lang="en-US" sz="1200"/>
          </a:p>
          <a:p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15A8F0E-A5E1-FBE3-20D4-88EFDA38B5C4}"/>
              </a:ext>
            </a:extLst>
          </p:cNvPr>
          <p:cNvSpPr/>
          <p:nvPr/>
        </p:nvSpPr>
        <p:spPr>
          <a:xfrm>
            <a:off x="2757154" y="2395781"/>
            <a:ext cx="1003300" cy="2667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391E1D6-BC7A-0A82-FBA7-B477C6C91BC7}"/>
              </a:ext>
            </a:extLst>
          </p:cNvPr>
          <p:cNvSpPr/>
          <p:nvPr/>
        </p:nvSpPr>
        <p:spPr>
          <a:xfrm flipH="1">
            <a:off x="8191499" y="2415489"/>
            <a:ext cx="876300" cy="2667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53EAA-884A-2836-A982-D5FF2473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Playbook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60FA3-0FFF-08A6-F65D-770B22044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1590517"/>
            <a:ext cx="5210902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8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8715E0-EBB0-04A0-30D4-264ADB60F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/>
          <a:lstStyle/>
          <a:p>
            <a:r>
              <a:rPr lang="en-US" altLang="zh-TW" dirty="0">
                <a:solidFill>
                  <a:schemeClr val="bg1"/>
                </a:solidFill>
              </a:rPr>
              <a:t>AI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Playbook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8344B2-C5BF-9C92-DFB5-6B428BF36BB5}"/>
              </a:ext>
            </a:extLst>
          </p:cNvPr>
          <p:cNvSpPr/>
          <p:nvPr/>
        </p:nvSpPr>
        <p:spPr>
          <a:xfrm>
            <a:off x="440658" y="2134280"/>
            <a:ext cx="1580186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r>
              <a:rPr lang="en-US" sz="1200"/>
              <a:t>Issue description /timing retrieval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0B583-2269-02E8-4BDE-22DF773CFE77}"/>
              </a:ext>
            </a:extLst>
          </p:cNvPr>
          <p:cNvSpPr/>
          <p:nvPr/>
        </p:nvSpPr>
        <p:spPr>
          <a:xfrm>
            <a:off x="5594730" y="2138766"/>
            <a:ext cx="1492250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  Filter agent tools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7E949-46F5-5E49-430B-03DF5756786A}"/>
              </a:ext>
            </a:extLst>
          </p:cNvPr>
          <p:cNvSpPr txBox="1"/>
          <p:nvPr/>
        </p:nvSpPr>
        <p:spPr>
          <a:xfrm>
            <a:off x="3098500" y="2820163"/>
            <a:ext cx="213337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Read issue description and decide what skill sets to choose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Iterate over 6 times until submit final reports    </a:t>
            </a:r>
            <a:endParaRPr lang="en-US" sz="1200"/>
          </a:p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C10035-BC84-716C-1CDC-101B6CA17246}"/>
              </a:ext>
            </a:extLst>
          </p:cNvPr>
          <p:cNvSpPr/>
          <p:nvPr/>
        </p:nvSpPr>
        <p:spPr>
          <a:xfrm>
            <a:off x="3175011" y="2138766"/>
            <a:ext cx="1580186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AI agent orchestrator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62BF8A-2E8C-8C7B-719B-2779F6EE2AC0}"/>
              </a:ext>
            </a:extLst>
          </p:cNvPr>
          <p:cNvSpPr txBox="1"/>
          <p:nvPr/>
        </p:nvSpPr>
        <p:spPr>
          <a:xfrm>
            <a:off x="351093" y="2827519"/>
            <a:ext cx="213337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Use IPS description to identify initial problem statement and issue timing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Identify issue time help AI agent focus on analysis, also save tokens . </a:t>
            </a:r>
            <a:endParaRPr lang="en-US" sz="1200"/>
          </a:p>
          <a:p>
            <a:endParaRPr lang="en-US"/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D68098E-D35B-0574-D194-ADC6B3107BCD}"/>
              </a:ext>
            </a:extLst>
          </p:cNvPr>
          <p:cNvSpPr/>
          <p:nvPr/>
        </p:nvSpPr>
        <p:spPr>
          <a:xfrm flipH="1" flipV="1">
            <a:off x="4061998" y="1434078"/>
            <a:ext cx="2339750" cy="615950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C74A5F-D357-B628-0B41-30C36CD848CA}"/>
              </a:ext>
            </a:extLst>
          </p:cNvPr>
          <p:cNvSpPr txBox="1"/>
          <p:nvPr/>
        </p:nvSpPr>
        <p:spPr>
          <a:xfrm>
            <a:off x="9202930" y="2923109"/>
            <a:ext cx="34853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Call the Tools/Skills needed to complete the tasks </a:t>
            </a:r>
            <a:endParaRPr lang="en-US" sz="1200" dirty="0"/>
          </a:p>
          <a:p>
            <a:endParaRPr lang="en-US" dirty="0"/>
          </a:p>
        </p:txBody>
      </p: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A9AA5DB3-C6FB-26A8-5345-9A44001EB988}"/>
              </a:ext>
            </a:extLst>
          </p:cNvPr>
          <p:cNvSpPr/>
          <p:nvPr/>
        </p:nvSpPr>
        <p:spPr>
          <a:xfrm>
            <a:off x="4184106" y="3920432"/>
            <a:ext cx="2393950" cy="615950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3DF562-965E-04D0-C6FC-83E2719F37E1}"/>
              </a:ext>
            </a:extLst>
          </p:cNvPr>
          <p:cNvSpPr txBox="1"/>
          <p:nvPr/>
        </p:nvSpPr>
        <p:spPr>
          <a:xfrm>
            <a:off x="3985102" y="1010826"/>
            <a:ext cx="3485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Analysis result of Filtered logs , with history appended 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2FE86-2EC2-4195-D594-F8E87B2D648D}"/>
              </a:ext>
            </a:extLst>
          </p:cNvPr>
          <p:cNvSpPr/>
          <p:nvPr/>
        </p:nvSpPr>
        <p:spPr>
          <a:xfrm>
            <a:off x="8464195" y="2134294"/>
            <a:ext cx="1580186" cy="5962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Sets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B4826F-CD6B-0647-B65D-B1FAD41520C8}"/>
              </a:ext>
            </a:extLst>
          </p:cNvPr>
          <p:cNvSpPr txBox="1"/>
          <p:nvPr/>
        </p:nvSpPr>
        <p:spPr>
          <a:xfrm>
            <a:off x="8376735" y="3212744"/>
            <a:ext cx="3159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Written as .md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Description of what problem this skill can solve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What logs to read (Filter)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How to read it – knowledge 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F79E32-1460-1510-0D60-90A28AD64FFA}"/>
              </a:ext>
            </a:extLst>
          </p:cNvPr>
          <p:cNvSpPr txBox="1"/>
          <p:nvPr/>
        </p:nvSpPr>
        <p:spPr>
          <a:xfrm>
            <a:off x="5518612" y="2772903"/>
            <a:ext cx="22806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Apply filter according to skill set 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Provided analysis result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Each time AI can use 2~3 Skill sets </a:t>
            </a:r>
            <a:endParaRPr lang="en-US" sz="1200" dirty="0"/>
          </a:p>
          <a:p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DE35F41-7367-01DF-606B-3550FB7D3AD3}"/>
              </a:ext>
            </a:extLst>
          </p:cNvPr>
          <p:cNvSpPr/>
          <p:nvPr/>
        </p:nvSpPr>
        <p:spPr>
          <a:xfrm>
            <a:off x="2095200" y="2331941"/>
            <a:ext cx="1003300" cy="2667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AA2D0C92-CC4A-9F49-C56D-B0C4AB843299}"/>
              </a:ext>
            </a:extLst>
          </p:cNvPr>
          <p:cNvSpPr/>
          <p:nvPr/>
        </p:nvSpPr>
        <p:spPr>
          <a:xfrm>
            <a:off x="7240425" y="2260027"/>
            <a:ext cx="1117600" cy="29845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3805F0E-9523-E89A-D633-98E83EBE25FD}"/>
              </a:ext>
            </a:extLst>
          </p:cNvPr>
          <p:cNvSpPr/>
          <p:nvPr/>
        </p:nvSpPr>
        <p:spPr>
          <a:xfrm>
            <a:off x="4400420" y="4723720"/>
            <a:ext cx="1485900" cy="83185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Playbook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E19C37-6985-A5DA-2794-D8FAA760B872}"/>
              </a:ext>
            </a:extLst>
          </p:cNvPr>
          <p:cNvSpPr txBox="1"/>
          <p:nvPr/>
        </p:nvSpPr>
        <p:spPr>
          <a:xfrm>
            <a:off x="4315956" y="5620966"/>
            <a:ext cx="3746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Record case description , skill set used , skill used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Maintain this experience by issue category.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Next time new issue can learn and select good skills in this category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5924C8D-E304-0396-71FC-99BD4F20F736}"/>
              </a:ext>
            </a:extLst>
          </p:cNvPr>
          <p:cNvSpPr/>
          <p:nvPr/>
        </p:nvSpPr>
        <p:spPr>
          <a:xfrm>
            <a:off x="8376735" y="4602050"/>
            <a:ext cx="1485900" cy="83185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feedback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82330D-9EF4-CA9A-045B-D1ADB2F3432E}"/>
              </a:ext>
            </a:extLst>
          </p:cNvPr>
          <p:cNvSpPr txBox="1"/>
          <p:nvPr/>
        </p:nvSpPr>
        <p:spPr>
          <a:xfrm>
            <a:off x="8446757" y="5770450"/>
            <a:ext cx="3746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User review skill set used , modify it , commit it to git/review 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3657DE3-0F6C-19C4-87E8-DBDCBA7BC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926" y="5775445"/>
            <a:ext cx="322721" cy="3041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C78300-56D2-EB6F-0062-853DEE508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892" y="5775601"/>
            <a:ext cx="246769" cy="30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2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el 2025 | Tech Tour US | Day 02">
  <a:themeElements>
    <a:clrScheme name="Intel_2025_ITT">
      <a:dk1>
        <a:srgbClr val="000000"/>
      </a:dk1>
      <a:lt1>
        <a:srgbClr val="FFFFFF"/>
      </a:lt1>
      <a:dk2>
        <a:srgbClr val="030F26"/>
      </a:dk2>
      <a:lt2>
        <a:srgbClr val="FFFFFF"/>
      </a:lt2>
      <a:accent1>
        <a:srgbClr val="0046C8"/>
      </a:accent1>
      <a:accent2>
        <a:srgbClr val="00C7FD"/>
      </a:accent2>
      <a:accent3>
        <a:srgbClr val="FFE500"/>
      </a:accent3>
      <a:accent4>
        <a:srgbClr val="FE8022"/>
      </a:accent4>
      <a:accent5>
        <a:srgbClr val="A923F1"/>
      </a:accent5>
      <a:accent6>
        <a:srgbClr val="9FD541"/>
      </a:accent6>
      <a:hlink>
        <a:srgbClr val="00C7FD"/>
      </a:hlink>
      <a:folHlink>
        <a:srgbClr val="0046C8"/>
      </a:folHlink>
    </a:clrScheme>
    <a:fontScheme name="Intel 2025 ITT">
      <a:majorFont>
        <a:latin typeface="IntelOne Display Light"/>
        <a:ea typeface=""/>
        <a:cs typeface=""/>
      </a:majorFont>
      <a:minorFont>
        <a:latin typeface="IntelOn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lassic Blue Tint 2">
      <a:srgbClr val="6BC4F6"/>
    </a:custClr>
    <a:custClr name="Energy Blue Tint 2">
      <a:srgbClr val="A0EBFF"/>
    </a:custClr>
    <a:custClr name="Carbon Tint 2">
      <a:srgbClr val="EAEAEA"/>
    </a:custClr>
    <a:custClr name="Blue Steel Tint 2">
      <a:srgbClr val="B9D7E5"/>
    </a:custClr>
    <a:custClr name="Electric Cosmos Tint 2">
      <a:srgbClr val="AF98FF"/>
    </a:custClr>
    <a:custClr name="Electric Cobalt Tint 2">
      <a:srgbClr val="B8BBFD"/>
    </a:custClr>
    <a:custClr name="Electric Aqua Tint 2">
      <a:srgbClr val="A2F6E9"/>
    </a:custClr>
    <a:custClr name="Electric Moss Tint 1">
      <a:srgbClr val="D1FF7D"/>
    </a:custClr>
    <a:custClr name="Electric Moss">
      <a:srgbClr val="A0D541"/>
    </a:custClr>
    <a:custClr name="Electric Moss Shade 1">
      <a:srgbClr val="719A2F"/>
    </a:custClr>
    <a:custClr name="Classic Blue Tint 1">
      <a:srgbClr val="0099EC"/>
    </a:custClr>
    <a:custClr name="Energy Blue Tint 1">
      <a:srgbClr val="6DDDFF"/>
    </a:custClr>
    <a:custClr name="Carbon Tint 1">
      <a:srgbClr val="AEAEAE"/>
    </a:custClr>
    <a:custClr name="Blue Steel Tint 1">
      <a:srgbClr val="86B3CA"/>
    </a:custClr>
    <a:custClr name="Electric Cosmos Tint 1">
      <a:srgbClr val="8B50FF"/>
    </a:custClr>
    <a:custClr name="Electric Cobalt Tint 1">
      <a:srgbClr val="7B7DFD"/>
    </a:custClr>
    <a:custClr name="Electric Aqua Tint 1">
      <a:srgbClr val="5AE4CD"/>
    </a:custClr>
    <a:custClr name="Electric Daisy Tint 1">
      <a:srgbClr val="FFFB97"/>
    </a:custClr>
    <a:custClr name="Electric Daisy">
      <a:srgbClr val="FFE600"/>
    </a:custClr>
    <a:custClr name="Electric Daisy Shade 1">
      <a:srgbClr val="F5C416"/>
    </a:custClr>
    <a:custClr name="Classic Digital Blue">
      <a:srgbClr val="0546C8"/>
    </a:custClr>
    <a:custClr name="Energy Blue">
      <a:srgbClr val="00C8FD"/>
    </a:custClr>
    <a:custClr name="Carbon">
      <a:srgbClr val="808080"/>
    </a:custClr>
    <a:custClr name="Blue Steel">
      <a:srgbClr val="548FAD"/>
    </a:custClr>
    <a:custClr name="Electric Cosmos">
      <a:srgbClr val="7001FF"/>
    </a:custClr>
    <a:custClr name="Electric Cobalt">
      <a:srgbClr val="231CFF"/>
    </a:custClr>
    <a:custClr name="Electric Aqua">
      <a:srgbClr val="15CFB1"/>
    </a:custClr>
    <a:custClr name="Electric Rust Tint 1">
      <a:srgbClr val="FFA300"/>
    </a:custClr>
    <a:custClr name="Electric Rust">
      <a:srgbClr val="FF5000"/>
    </a:custClr>
    <a:custClr name="Electric Rust Shade 1">
      <a:srgbClr val="BF3C00"/>
    </a:custClr>
    <a:custClr name="Classic Blue Shade 1">
      <a:srgbClr val="00377C"/>
    </a:custClr>
    <a:custClr name="Energy Blue Shade 1">
      <a:srgbClr val="0095CA"/>
    </a:custClr>
    <a:custClr name="Carbon Tint 1">
      <a:srgbClr val="525252"/>
    </a:custClr>
    <a:custClr name="Blue Steel Shade 1">
      <a:srgbClr val="41728B"/>
    </a:custClr>
    <a:custClr name="Electric Cosmos Shade 1">
      <a:srgbClr val="5300C0"/>
    </a:custClr>
    <a:custClr name="Electric Cobalt Shade 1">
      <a:srgbClr val="1410AE"/>
    </a:custClr>
    <a:custClr name="Electric Aqua Shade 1">
      <a:srgbClr val="0F9B8F"/>
    </a:custClr>
    <a:custClr name="Electric Coral Tint 1">
      <a:srgbClr val="FFA6B9"/>
    </a:custClr>
    <a:custClr name="Electric Coral">
      <a:srgbClr val="FF5A81"/>
    </a:custClr>
    <a:custClr name="Electric Coral Shade 1">
      <a:srgbClr val="E94477"/>
    </a:custClr>
    <a:custClr name="Classic Blue Shade 2">
      <a:srgbClr val="001E50"/>
    </a:custClr>
    <a:custClr name="Energy Blue Shade 2">
      <a:srgbClr val="005B85"/>
    </a:custClr>
    <a:custClr name="Carbon Tint 2">
      <a:srgbClr val="252525"/>
    </a:custClr>
    <a:custClr name="Blue Steel Shade 2">
      <a:srgbClr val="173443"/>
    </a:custClr>
    <a:custClr name="Electric Cosmos Shade 2">
      <a:srgbClr val="38007F"/>
    </a:custClr>
    <a:custClr name="Electric Cobalt Shade 2">
      <a:srgbClr val="050355"/>
    </a:custClr>
    <a:custClr name="Electric Aqua Shade 2">
      <a:srgbClr val="08746E"/>
    </a:custClr>
    <a:custClr name="Electric Geode Tint 1">
      <a:srgbClr val="C66EF8"/>
    </a:custClr>
    <a:custClr name="Electric Geode">
      <a:srgbClr val="A924F1"/>
    </a:custClr>
    <a:custClr name="Electric Geode Shade 1">
      <a:srgbClr val="8B1EB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6174</TotalTime>
  <Words>894</Words>
  <Application>Microsoft Office PowerPoint</Application>
  <PresentationFormat>Widescreen</PresentationFormat>
  <Paragraphs>117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Instrument Serif</vt:lpstr>
      <vt:lpstr>System Font Regular</vt:lpstr>
      <vt:lpstr>ui-sans-serif</vt:lpstr>
      <vt:lpstr>Aptos</vt:lpstr>
      <vt:lpstr>Arial</vt:lpstr>
      <vt:lpstr>Calibri</vt:lpstr>
      <vt:lpstr>IntelOne Display Light</vt:lpstr>
      <vt:lpstr>IntelOne Text Light</vt:lpstr>
      <vt:lpstr>IntelOne Text Medium</vt:lpstr>
      <vt:lpstr>Wingdings</vt:lpstr>
      <vt:lpstr>Intel 2025 | Tech Tour US | Day 02</vt:lpstr>
      <vt:lpstr>Office Theme</vt:lpstr>
      <vt:lpstr>AI debug new structure : AI agent Skill  </vt:lpstr>
      <vt:lpstr>Previous method of AI debug triage </vt:lpstr>
      <vt:lpstr>PowerPoint Presentation</vt:lpstr>
      <vt:lpstr>PowerPoint Presentation</vt:lpstr>
      <vt:lpstr>PowerPoint Presentation</vt:lpstr>
      <vt:lpstr>PowerPoint Presentation</vt:lpstr>
      <vt:lpstr>Current design for AI Agent debug flow  </vt:lpstr>
      <vt:lpstr>AI Playbook </vt:lpstr>
      <vt:lpstr>AI Playbook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Granchalek, Ryan R</dc:creator>
  <cp:lastModifiedBy>Chu, Charles P</cp:lastModifiedBy>
  <cp:revision>2</cp:revision>
  <dcterms:created xsi:type="dcterms:W3CDTF">2026-01-27T15:05:20Z</dcterms:created>
  <dcterms:modified xsi:type="dcterms:W3CDTF">2026-06-22T02:29:52Z</dcterms:modified>
</cp:coreProperties>
</file>